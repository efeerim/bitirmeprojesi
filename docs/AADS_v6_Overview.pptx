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AADS v6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A5D6A7"/>
                </a:solidFill>
              </a:rPr>
              <a:t>Adaptive Agricultural Disease Sensing</a:t>
            </a:r>
          </a:p>
          <a:p>
            <a:r>
              <a:rPr sz="2100" b="0">
                <a:solidFill>
                  <a:srgbClr val="A5D6A7"/>
                </a:solidFill>
              </a:rPr>
              <a:t>Plant-Disease Training &amp; Inference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9A825"/>
                </a:solidFill>
              </a:rPr>
              <a:t>Continual SD-LoRA  ·  Router-Driven Inference  ·  OOD Readiness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The Problem: Plant Diseases Devastate Crops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Why does this matter?</a:t>
            </a:r>
          </a:p>
          <a:p>
            <a:r>
              <a:rPr sz="1800" b="0">
                <a:solidFill>
                  <a:srgbClr val="212121"/>
                </a:solidFill>
              </a:rPr>
              <a:t>Every year, plant diseases destroy 20-40% of global crop production,</a:t>
            </a:r>
          </a:p>
          <a:p>
            <a:r>
              <a:rPr sz="1800" b="0">
                <a:solidFill>
                  <a:srgbClr val="212121"/>
                </a:solidFill>
              </a:rPr>
              <a:t>threatening food security and farmer livelihoods worldwide.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The challenge for farmers</a:t>
            </a:r>
          </a:p>
          <a:p>
            <a:r>
              <a:rPr sz="1800" b="0">
                <a:solidFill>
                  <a:srgbClr val="212121"/>
                </a:solidFill>
              </a:rPr>
              <a:t>• Identifying diseases early requires expert knowledge most farmers lack.</a:t>
            </a:r>
          </a:p>
          <a:p>
            <a:r>
              <a:rPr sz="1800" b="0">
                <a:solidFill>
                  <a:srgbClr val="212121"/>
                </a:solidFill>
              </a:rPr>
              <a:t>• Hiring an agronomist for every field is too expensive and too slow.</a:t>
            </a:r>
          </a:p>
          <a:p>
            <a:r>
              <a:rPr sz="1800" b="0">
                <a:solidFill>
                  <a:srgbClr val="212121"/>
                </a:solidFill>
              </a:rPr>
              <a:t>• Visible symptoms often appear only after significant damage has occurred.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we need</a:t>
            </a:r>
          </a:p>
          <a:p>
            <a:r>
              <a:rPr sz="1800" b="0">
                <a:solidFill>
                  <a:srgbClr val="212121"/>
                </a:solidFill>
              </a:rPr>
              <a:t>• A fast, accurate, affordable tool that looks at a plant photo and says:</a:t>
            </a:r>
          </a:p>
          <a:p>
            <a:r>
              <a:rPr sz="1800" b="0">
                <a:solidFill>
                  <a:srgbClr val="212121"/>
                </a:solidFill>
              </a:rPr>
              <a:t>  "This tomato leaf has Late Blight — act immediately."</a:t>
            </a:r>
          </a:p>
          <a:p>
            <a:r>
              <a:rPr sz="1800" b="0">
                <a:solidFill>
                  <a:srgbClr val="212121"/>
                </a:solidFill>
              </a:rPr>
              <a:t>• A tool that also knows when it is NOT sure, and flags uncertainty</a:t>
            </a:r>
          </a:p>
          <a:p>
            <a:r>
              <a:rPr sz="1800" b="0">
                <a:solidFill>
                  <a:srgbClr val="212121"/>
                </a:solidFill>
              </a:rPr>
              <a:t>  instead of guessing with false confidence.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263640"/>
            <a:ext cx="11457432" cy="43891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28192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32"/>
                </a:solidFill>
              </a:rPr>
              <a:t>AADS v6 is that tool — built with modern AI and designed to be trustworthy.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What Is Artificial Intelligence? (No Prior Knowledge Needed)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Think of it like teaching a child to recognise fruits</a:t>
            </a:r>
          </a:p>
          <a:p>
            <a:r>
              <a:rPr sz="1800" b="0">
                <a:solidFill>
                  <a:srgbClr val="212121"/>
                </a:solidFill>
              </a:rPr>
              <a:t>You show a child 1 000 photos of apples and say 'apple' each time.</a:t>
            </a:r>
          </a:p>
          <a:p>
            <a:r>
              <a:rPr sz="1800" b="0">
                <a:solidFill>
                  <a:srgbClr val="212121"/>
                </a:solidFill>
              </a:rPr>
              <a:t>After enough examples, the child can spot a new apple it has never seen before.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AI works the same way</a:t>
            </a:r>
          </a:p>
          <a:p>
            <a:r>
              <a:rPr sz="1800" b="0">
                <a:solidFill>
                  <a:srgbClr val="212121"/>
                </a:solidFill>
              </a:rPr>
              <a:t>• We show the computer thousands of plant-disease images with correct labels.</a:t>
            </a:r>
          </a:p>
          <a:p>
            <a:r>
              <a:rPr sz="1800" b="0">
                <a:solidFill>
                  <a:srgbClr val="212121"/>
                </a:solidFill>
              </a:rPr>
              <a:t>• The computer adjusts millions of internal numbers until it learns the pattern.</a:t>
            </a:r>
          </a:p>
          <a:p>
            <a:r>
              <a:rPr sz="1800" b="0">
                <a:solidFill>
                  <a:srgbClr val="212121"/>
                </a:solidFill>
              </a:rPr>
              <a:t>• Those numbers are stored as a 'model' — like the child's learned memory.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Two key phases</a:t>
            </a:r>
          </a:p>
          <a:p>
            <a:r>
              <a:rPr sz="1800" b="1">
                <a:solidFill>
                  <a:srgbClr val="2E7D32"/>
                </a:solidFill>
              </a:rPr>
              <a:t>  TRAINING  — show labelled examples, adjust numbers, learn the pattern.</a:t>
            </a:r>
          </a:p>
          <a:p>
            <a:r>
              <a:rPr sz="1800" b="1">
                <a:solidFill>
                  <a:srgbClr val="2E7D32"/>
                </a:solidFill>
              </a:rPr>
              <a:t>  INFERENCE — show a new image, run the numbers, return a prediction.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F9A825"/>
                </a:solidFill>
              </a:rPr>
              <a:t>AADS v6 handles both phases — and everything in between.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What Is a Neural Network?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A chain of 'pattern detectors'</a:t>
            </a:r>
          </a:p>
          <a:p>
            <a:r>
              <a:rPr sz="1800" b="0">
                <a:solidFill>
                  <a:srgbClr val="212121"/>
                </a:solidFill>
              </a:rPr>
              <a:t>A neural network is a stack of layers. Each layer looks for patterns</a:t>
            </a:r>
          </a:p>
          <a:p>
            <a:r>
              <a:rPr sz="1800" b="0">
                <a:solidFill>
                  <a:srgbClr val="212121"/>
                </a:solidFill>
              </a:rPr>
              <a:t>in the output of the layer before it.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700" b="0">
                <a:solidFill>
                  <a:srgbClr val="555555"/>
                </a:solidFill>
              </a:rPr>
              <a:t>  Layer 1  — detects raw edges and colour regions in the image.</a:t>
            </a:r>
          </a:p>
          <a:p>
            <a:r>
              <a:rPr sz="1800" b="0">
                <a:solidFill>
                  <a:srgbClr val="212121"/>
                </a:solidFill>
              </a:rPr>
              <a:t>  Layer 2  — detects textures: spotty, smooth, striped …</a:t>
            </a:r>
          </a:p>
          <a:p>
            <a:r>
              <a:rPr sz="1800" b="0">
                <a:solidFill>
                  <a:srgbClr val="212121"/>
                </a:solidFill>
              </a:rPr>
              <a:t>  Layer 3  — detects shapes: circular lesions, leaf veins, stems …</a:t>
            </a:r>
          </a:p>
          <a:p>
            <a:r>
              <a:rPr sz="1800" b="0">
                <a:solidFill>
                  <a:srgbClr val="212121"/>
                </a:solidFill>
              </a:rPr>
              <a:t>  Layer N  — makes the final label decision: early_blight, healthy …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Why 'deep' networks?</a:t>
            </a:r>
          </a:p>
          <a:p>
            <a:r>
              <a:rPr sz="1800" b="0">
                <a:solidFill>
                  <a:srgbClr val="212121"/>
                </a:solidFill>
              </a:rPr>
              <a:t>'Deep' means many layers. More layers allow the network to learn more</a:t>
            </a:r>
          </a:p>
          <a:p>
            <a:r>
              <a:rPr sz="1800" b="0">
                <a:solidFill>
                  <a:srgbClr val="212121"/>
                </a:solidFill>
              </a:rPr>
              <a:t>subtle distinctions — like the difference between two similar diseases.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The backbone used here: DINOv3 (explained on the next slide)</a:t>
            </a:r>
          </a:p>
          <a:p>
            <a:r>
              <a:rPr sz="1800" b="0">
                <a:solidFill>
                  <a:srgbClr val="212121"/>
                </a:solidFill>
              </a:rPr>
              <a:t>DINOv3 is a pre-trained vision transformer: an expert at finding visual</a:t>
            </a:r>
          </a:p>
          <a:p>
            <a:r>
              <a:rPr sz="1800" b="0">
                <a:solidFill>
                  <a:srgbClr val="212121"/>
                </a:solidFill>
              </a:rPr>
              <a:t>patterns in images before it ever sees a single plant photo.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DINOv3 — The Pre-Trained Expert Backbone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What 'pre-trained' means</a:t>
            </a:r>
          </a:p>
          <a:p>
            <a:r>
              <a:rPr sz="1800" b="0">
                <a:solidFill>
                  <a:srgbClr val="212121"/>
                </a:solidFill>
              </a:rPr>
              <a:t>Training a network from scratch requires millions of labelled images and</a:t>
            </a:r>
          </a:p>
          <a:p>
            <a:r>
              <a:rPr sz="1800" b="0">
                <a:solidFill>
                  <a:srgbClr val="212121"/>
                </a:solidFill>
              </a:rPr>
              <a:t>weeks of GPU time. Most projects cannot afford that.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The shortcut: start from a model already trained on the internet</a:t>
            </a:r>
          </a:p>
          <a:p>
            <a:r>
              <a:rPr sz="1800" b="0">
                <a:solidFill>
                  <a:srgbClr val="212121"/>
                </a:solidFill>
              </a:rPr>
              <a:t>Meta AI trained DINOv3 on 1.4 billion real-world images.</a:t>
            </a:r>
          </a:p>
          <a:p>
            <a:r>
              <a:rPr sz="1800" b="0">
                <a:solidFill>
                  <a:srgbClr val="212121"/>
                </a:solidFill>
              </a:rPr>
              <a:t>It already understands colour, texture, shape, and object boundaries.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How AADS uses DINOv3</a:t>
            </a:r>
          </a:p>
          <a:p>
            <a:r>
              <a:rPr sz="1800" b="0">
                <a:solidFill>
                  <a:srgbClr val="212121"/>
                </a:solidFill>
              </a:rPr>
              <a:t>• AADS loads DINOv3 and keeps its weights frozen (no changes allowed).</a:t>
            </a:r>
          </a:p>
          <a:p>
            <a:r>
              <a:rPr sz="1800" b="0">
                <a:solidFill>
                  <a:srgbClr val="212121"/>
                </a:solidFill>
              </a:rPr>
              <a:t>• It is like hiring a senior expert who already knows visual patterns.</a:t>
            </a:r>
          </a:p>
          <a:p>
            <a:r>
              <a:rPr sz="1800" b="0">
                <a:solidFill>
                  <a:srgbClr val="212121"/>
                </a:solidFill>
              </a:rPr>
              <a:t>• Small trainable LoRA layers are added on top to teach it about plant diseases.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Multi-scale feature fusion</a:t>
            </a:r>
          </a:p>
          <a:p>
            <a:r>
              <a:rPr sz="1800" b="0">
                <a:solidFill>
                  <a:srgbClr val="212121"/>
                </a:solidFill>
              </a:rPr>
              <a:t>AADS taps DINOv3 at layers 2, 5, 8, and 11 simultaneously.</a:t>
            </a:r>
          </a:p>
          <a:p>
            <a:r>
              <a:rPr sz="1800" b="0">
                <a:solidFill>
                  <a:srgbClr val="212121"/>
                </a:solidFill>
              </a:rPr>
              <a:t>These are blended with learned weights so both fine texture and</a:t>
            </a:r>
          </a:p>
          <a:p>
            <a:r>
              <a:rPr sz="1800" b="0">
                <a:solidFill>
                  <a:srgbClr val="212121"/>
                </a:solidFill>
              </a:rPr>
              <a:t>high-level structure contribute to every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263640"/>
            <a:ext cx="11457432" cy="43891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28192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32"/>
                </a:solidFill>
              </a:rPr>
              <a:t>Model: facebook/dinov3-vitl16-pretrain-lvd1689m  |  Feature dimension: 768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LoRA — Fine-Tuning Without Rewriting the Expert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Analogy: sticky notes on a textbook</a:t>
            </a:r>
          </a:p>
          <a:p>
            <a:r>
              <a:rPr sz="1800" b="0">
                <a:solidFill>
                  <a:srgbClr val="212121"/>
                </a:solidFill>
              </a:rPr>
              <a:t>Imagine an expert textbook you cannot rewrite (too expensive).</a:t>
            </a:r>
          </a:p>
          <a:p>
            <a:r>
              <a:rPr sz="1800" b="0">
                <a:solidFill>
                  <a:srgbClr val="212121"/>
                </a:solidFill>
              </a:rPr>
              <a:t>Instead, you add small sticky notes on the relevant pages.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2E7D32"/>
                </a:solidFill>
              </a:rPr>
              <a:t>LoRA (Low-Rank Adaptation) works exactly like that:</a:t>
            </a:r>
          </a:p>
          <a:p>
            <a:r>
              <a:rPr sz="1800" b="0">
                <a:solidFill>
                  <a:srgbClr val="212121"/>
                </a:solidFill>
              </a:rPr>
              <a:t>  • DINOv3 weights stay frozen — the textbook is unchanged.</a:t>
            </a:r>
          </a:p>
          <a:p>
            <a:r>
              <a:rPr sz="1800" b="0">
                <a:solidFill>
                  <a:srgbClr val="212121"/>
                </a:solidFill>
              </a:rPr>
              <a:t>  • LoRA inserts tiny trainable matrices into each transformer linear layer.</a:t>
            </a:r>
          </a:p>
          <a:p>
            <a:r>
              <a:rPr sz="1800" b="0">
                <a:solidFill>
                  <a:srgbClr val="212121"/>
                </a:solidFill>
              </a:rPr>
              <a:t>  • Only those tiny matrices are updated — far fewer parameters.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Why LoRA matters</a:t>
            </a:r>
          </a:p>
          <a:p>
            <a:r>
              <a:rPr sz="1800" b="0">
                <a:solidFill>
                  <a:srgbClr val="212121"/>
                </a:solidFill>
              </a:rPr>
              <a:t>• Training only LoRA matrices is 10-100x faster than full model fine-tuning.</a:t>
            </a:r>
          </a:p>
          <a:p>
            <a:r>
              <a:rPr sz="1800" b="0">
                <a:solidFill>
                  <a:srgbClr val="212121"/>
                </a:solidFill>
              </a:rPr>
              <a:t>• The core knowledge of DINOv3 is preserved; plant-disease nuance is added.</a:t>
            </a:r>
          </a:p>
          <a:p>
            <a:r>
              <a:rPr sz="1800" b="0">
                <a:solidFill>
                  <a:srgbClr val="212121"/>
                </a:solidFill>
              </a:rPr>
              <a:t>• The LoRA matrices can be saved and loaded separately from the backbone.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AADS LoRA settings (from config/base.json)</a:t>
            </a:r>
          </a:p>
          <a:p>
            <a:r>
              <a:rPr sz="1800" b="0">
                <a:solidFill>
                  <a:srgbClr val="212121"/>
                </a:solidFill>
              </a:rPr>
              <a:t>  lora_r = 16      (rank: controls each adapter's capacity)</a:t>
            </a:r>
          </a:p>
          <a:p>
            <a:r>
              <a:rPr sz="1800" b="0">
                <a:solidFill>
                  <a:srgbClr val="212121"/>
                </a:solidFill>
              </a:rPr>
              <a:t>  lora_alpha = 16  (scaling factor)</a:t>
            </a:r>
          </a:p>
          <a:p>
            <a:r>
              <a:rPr sz="1800" b="0">
                <a:solidFill>
                  <a:srgbClr val="212121"/>
                </a:solidFill>
              </a:rPr>
              <a:t>  lora_dropout = 0.10  (regularisation to prevent over-fitting)</a:t>
            </a:r>
          </a:p>
          <a:p>
            <a:r>
              <a:rPr sz="1800" b="0">
                <a:solidFill>
                  <a:srgbClr val="212121"/>
                </a:solidFill>
              </a:rPr>
              <a:t>  Target: all linear layers inside the DINOv3 transformer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What Is AADS v6? — Three Jobs in One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Job 1 — TRAIN</a:t>
            </a:r>
          </a:p>
          <a:p>
            <a:r>
              <a:rPr sz="1800" b="0">
                <a:solidFill>
                  <a:srgbClr val="212121"/>
                </a:solidFill>
              </a:rPr>
              <a:t>Take a labelled dataset of plant-disease images for one crop.</a:t>
            </a:r>
          </a:p>
          <a:p>
            <a:r>
              <a:rPr sz="1800" b="0">
                <a:solidFill>
                  <a:srgbClr val="212121"/>
                </a:solidFill>
              </a:rPr>
              <a:t>Build and train a crop-specific LoRA adapter on top of DINOv3.</a:t>
            </a:r>
          </a:p>
          <a:p>
            <a:r>
              <a:rPr sz="1800" b="0">
                <a:solidFill>
                  <a:srgbClr val="212121"/>
                </a:solidFill>
              </a:rPr>
              <a:t>Result: a saved adapter bundle ready for evaluation.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Job 2 — EVALUATE (check readiness for deployment)</a:t>
            </a:r>
          </a:p>
          <a:p>
            <a:r>
              <a:rPr sz="1800" b="0">
                <a:solidFill>
                  <a:srgbClr val="212121"/>
                </a:solidFill>
              </a:rPr>
              <a:t>Measure classification accuracy on held-out test images.</a:t>
            </a:r>
          </a:p>
          <a:p>
            <a:r>
              <a:rPr sz="1800" b="0">
                <a:solidFill>
                  <a:srgbClr val="212121"/>
                </a:solidFill>
              </a:rPr>
              <a:t>Calibrate and measure out-of-distribution (OOD) detection safety.</a:t>
            </a:r>
          </a:p>
          <a:p>
            <a:r>
              <a:rPr sz="1800" b="0">
                <a:solidFill>
                  <a:srgbClr val="212121"/>
                </a:solidFill>
              </a:rPr>
              <a:t>Write a go / no-go deployment verdict: production_readiness.json.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Job 3 — PREDICT (inference)</a:t>
            </a:r>
          </a:p>
          <a:p>
            <a:r>
              <a:rPr sz="1800" b="0">
                <a:solidFill>
                  <a:srgbClr val="212121"/>
                </a:solidFill>
              </a:rPr>
              <a:t>Accept a new image. Run the router to identify crop and plant part.</a:t>
            </a:r>
          </a:p>
          <a:p>
            <a:r>
              <a:rPr sz="1800" b="0">
                <a:solidFill>
                  <a:srgbClr val="212121"/>
                </a:solidFill>
              </a:rPr>
              <a:t>Load the correct adapter. Predict the disease label.</a:t>
            </a:r>
          </a:p>
          <a:p>
            <a:r>
              <a:rPr sz="1800" b="0">
                <a:solidFill>
                  <a:srgbClr val="212121"/>
                </a:solidFill>
              </a:rPr>
              <a:t>Return a structured payload including confidence and OOD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263640"/>
            <a:ext cx="11457432" cy="43891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28192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32"/>
                </a:solidFill>
              </a:rPr>
              <a:t>Intentionally narrow: one crop adapter at a time. Not a general ML research framework.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Key Vocabulary — Part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CROP</a:t>
            </a:r>
          </a:p>
          <a:p>
            <a:r>
              <a:rPr sz="1800" b="0">
                <a:solidFill>
                  <a:srgbClr val="212121"/>
                </a:solidFill>
              </a:rPr>
              <a:t>The plant species. Examples: tomato, potato, wheat.</a:t>
            </a:r>
          </a:p>
          <a:p>
            <a:r>
              <a:rPr sz="1800" b="0">
                <a:solidFill>
                  <a:srgbClr val="212121"/>
                </a:solidFill>
              </a:rPr>
              <a:t>Each crop gets its own dedicated adapter trained on its own disease classes.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CLASS</a:t>
            </a:r>
          </a:p>
          <a:p>
            <a:r>
              <a:rPr sz="1800" b="0">
                <a:solidFill>
                  <a:srgbClr val="212121"/>
                </a:solidFill>
              </a:rPr>
              <a:t>One disease label for a crop. Examples: healthy, early_blight, late_blight.</a:t>
            </a:r>
          </a:p>
          <a:p>
            <a:r>
              <a:rPr sz="1800" b="0">
                <a:solidFill>
                  <a:srgbClr val="212121"/>
                </a:solidFill>
              </a:rPr>
              <a:t>The adapter is trained to classify images into exactly these known classes.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ADAPTER</a:t>
            </a:r>
          </a:p>
          <a:p>
            <a:r>
              <a:rPr sz="1800" b="0">
                <a:solidFill>
                  <a:srgbClr val="212121"/>
                </a:solidFill>
              </a:rPr>
              <a:t>The saved crop-specific AI bundle produced by training. It contains:</a:t>
            </a:r>
          </a:p>
          <a:p>
            <a:r>
              <a:rPr sz="1800" b="0">
                <a:solidFill>
                  <a:srgbClr val="212121"/>
                </a:solidFill>
              </a:rPr>
              <a:t>  • LoRA weight matrices        • Classifier head weights</a:t>
            </a:r>
          </a:p>
          <a:p>
            <a:r>
              <a:rPr sz="1800" b="0">
                <a:solidFill>
                  <a:srgbClr val="212121"/>
                </a:solidFill>
              </a:rPr>
              <a:t>  • Metadata (crop name, class list, training config)</a:t>
            </a:r>
          </a:p>
          <a:p>
            <a:r>
              <a:rPr sz="1800" b="0">
                <a:solidFill>
                  <a:srgbClr val="212121"/>
                </a:solidFill>
              </a:rPr>
              <a:t>  • OOD detection state (calibration data, thresholds)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ROUTER</a:t>
            </a:r>
          </a:p>
          <a:p>
            <a:r>
              <a:rPr sz="1800" b="0">
                <a:solidFill>
                  <a:srgbClr val="212121"/>
                </a:solidFill>
              </a:rPr>
              <a:t>The first stage of inference. It analyses the image to identify:</a:t>
            </a:r>
          </a:p>
          <a:p>
            <a:r>
              <a:rPr sz="1800" b="0">
                <a:solidFill>
                  <a:srgbClr val="212121"/>
                </a:solidFill>
              </a:rPr>
              <a:t>  • Which crop is shown (tomato? potato? wheat?)</a:t>
            </a:r>
          </a:p>
          <a:p>
            <a:r>
              <a:rPr sz="1800" b="0">
                <a:solidFill>
                  <a:srgbClr val="212121"/>
                </a:solidFill>
              </a:rPr>
              <a:t>  • Which plant part is shown (leaf? stem? fruit? unknown?)</a:t>
            </a:r>
          </a:p>
          <a:p>
            <a:r>
              <a:rPr sz="1800" b="0">
                <a:solidFill>
                  <a:srgbClr val="212121"/>
                </a:solidFill>
              </a:rPr>
              <a:t>The router's crop decision selects which adapter to load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Key Vocabulary — Part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OOD — Out-of-Distribution</a:t>
            </a:r>
          </a:p>
          <a:p>
            <a:r>
              <a:rPr sz="1800" b="0">
                <a:solidFill>
                  <a:srgbClr val="212121"/>
                </a:solidFill>
              </a:rPr>
              <a:t>An input that does not belong to any class the adapter was trained on.</a:t>
            </a:r>
          </a:p>
          <a:p>
            <a:r>
              <a:rPr sz="1800" b="0">
                <a:solidFill>
                  <a:srgbClr val="212121"/>
                </a:solidFill>
              </a:rPr>
              <a:t>Example: showing a rose image to a tomato adapter is OOD.</a:t>
            </a:r>
          </a:p>
          <a:p>
            <a:r>
              <a:rPr sz="1800" b="0">
                <a:solidFill>
                  <a:srgbClr val="212121"/>
                </a:solidFill>
              </a:rPr>
              <a:t>OOD detection prevents the model from confidently predicting the wrong label.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READINESS</a:t>
            </a:r>
          </a:p>
          <a:p>
            <a:r>
              <a:rPr sz="1800" b="0">
                <a:solidFill>
                  <a:srgbClr val="212121"/>
                </a:solidFill>
              </a:rPr>
              <a:t>The final deployment verdict written to production_readiness.json.</a:t>
            </a:r>
          </a:p>
          <a:p>
            <a:r>
              <a:rPr sz="1800" b="0">
                <a:solidFill>
                  <a:srgbClr val="212121"/>
                </a:solidFill>
              </a:rPr>
              <a:t>'Ready' means: accuracy &gt;= target AND OOD behaviour &gt;= target.</a:t>
            </a:r>
          </a:p>
          <a:p>
            <a:r>
              <a:rPr sz="1800" b="0">
                <a:solidFill>
                  <a:srgbClr val="212121"/>
                </a:solidFill>
              </a:rPr>
              <a:t>Both checks must pass. Good accuracy alone is NOT enough.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ARTIFACT</a:t>
            </a:r>
          </a:p>
          <a:p>
            <a:r>
              <a:rPr sz="1800" b="0">
                <a:solidFill>
                  <a:srgbClr val="212121"/>
                </a:solidFill>
              </a:rPr>
              <a:t>Any file generated during training, evaluation, or notebook runs.</a:t>
            </a:r>
          </a:p>
          <a:p>
            <a:r>
              <a:rPr sz="1800" b="0">
                <a:solidFill>
                  <a:srgbClr val="212121"/>
                </a:solidFill>
              </a:rPr>
              <a:t>Examples: confusion_matrix.png, metric_gate.json, production_readiness.json.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RUNTIME DATASET</a:t>
            </a:r>
          </a:p>
          <a:p>
            <a:r>
              <a:rPr sz="1800" b="0">
                <a:solidFill>
                  <a:srgbClr val="212121"/>
                </a:solidFill>
              </a:rPr>
              <a:t>The split folder layout the training workflow reads from disk:</a:t>
            </a:r>
          </a:p>
          <a:p>
            <a:r>
              <a:rPr sz="1800" b="0">
                <a:solidFill>
                  <a:srgbClr val="212121"/>
                </a:solidFill>
              </a:rPr>
              <a:t>  continual/ (training)   val/ (validation)   test/ (final check)   ood/ (unknowns)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The Big Picture: How Everything Fits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Step A — Prepare your data</a:t>
            </a:r>
          </a:p>
          <a:p>
            <a:r>
              <a:rPr sz="1800" b="0">
                <a:solidFill>
                  <a:srgbClr val="212121"/>
                </a:solidFill>
              </a:rPr>
              <a:t>Collect plant-disease images. Organise into one folder per class label.</a:t>
            </a:r>
          </a:p>
          <a:p>
            <a:r>
              <a:rPr sz="1800" b="0">
                <a:solidFill>
                  <a:srgbClr val="212121"/>
                </a:solidFill>
              </a:rPr>
              <a:t>Notebook 0 can audit, deduplicate, and prepare the dataset for you.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B — Train</a:t>
            </a:r>
          </a:p>
          <a:p>
            <a:r>
              <a:rPr sz="1800" b="0">
                <a:solidFill>
                  <a:srgbClr val="212121"/>
                </a:solidFill>
              </a:rPr>
              <a:t>Run Notebook 2 (or the CLI). The training workflow:</a:t>
            </a:r>
          </a:p>
          <a:p>
            <a:r>
              <a:rPr sz="1800" b="0">
                <a:solidFill>
                  <a:srgbClr val="212121"/>
                </a:solidFill>
              </a:rPr>
              <a:t>  loads DINOv3 -&gt; attaches LoRA -&gt; trains -&gt; saves best weights.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C — Evaluate</a:t>
            </a:r>
          </a:p>
          <a:p>
            <a:r>
              <a:rPr sz="1800" b="0">
                <a:solidFill>
                  <a:srgbClr val="212121"/>
                </a:solidFill>
              </a:rPr>
              <a:t>The workflow automatically measures accuracy and OOD safety, then writes:</a:t>
            </a:r>
          </a:p>
          <a:p>
            <a:r>
              <a:rPr sz="1800" b="0">
                <a:solidFill>
                  <a:srgbClr val="212121"/>
                </a:solidFill>
              </a:rPr>
              <a:t>  production_readiness.json  &lt;-- the final deployment verdict.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D — Predict (Inference)</a:t>
            </a:r>
          </a:p>
          <a:p>
            <a:r>
              <a:rPr sz="1800" b="0">
                <a:solidFill>
                  <a:srgbClr val="212121"/>
                </a:solidFill>
              </a:rPr>
              <a:t>Point the system at a new image. The router identifies the crop.</a:t>
            </a:r>
          </a:p>
          <a:p>
            <a:r>
              <a:rPr sz="1800" b="0">
                <a:solidFill>
                  <a:srgbClr val="212121"/>
                </a:solidFill>
              </a:rPr>
              <a:t>The adapter predicts the disease. A structured JSON payload is returned.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700" b="1">
                <a:solidFill>
                  <a:srgbClr val="2E7D32"/>
                </a:solidFill>
              </a:rPr>
              <a:t>Notebook 3 lets you smoke-test the saved adapter directly (skips the router).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263640"/>
            <a:ext cx="11457432" cy="43891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28192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32"/>
                </a:solidFill>
              </a:rPr>
              <a:t>Canonical entrypoints: TrainingWorkflow.run(...)  and  InferenceWorkflow.predict(...)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Dataset Format 1 — Flat Class-Root Layout (Your Starting Point)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What it looks like on disk</a:t>
            </a:r>
          </a:p>
          <a:p>
            <a:r>
              <a:rPr sz="1800" b="0">
                <a:solidFill>
                  <a:srgbClr val="212121"/>
                </a:solidFill>
              </a:rPr>
              <a:t>  data/tomato_flat/</a:t>
            </a:r>
          </a:p>
          <a:p>
            <a:r>
              <a:rPr sz="1700" b="0">
                <a:solidFill>
                  <a:srgbClr val="2E7D32"/>
                </a:solidFill>
              </a:rPr>
              <a:t>      healthy/</a:t>
            </a:r>
          </a:p>
          <a:p>
            <a:r>
              <a:rPr sz="1800" b="0">
                <a:solidFill>
                  <a:srgbClr val="212121"/>
                </a:solidFill>
              </a:rPr>
              <a:t>          img001.jpg</a:t>
            </a:r>
          </a:p>
          <a:p>
            <a:r>
              <a:rPr sz="1800" b="0">
                <a:solidFill>
                  <a:srgbClr val="212121"/>
                </a:solidFill>
              </a:rPr>
              <a:t>          img002.jpg</a:t>
            </a:r>
          </a:p>
          <a:p>
            <a:r>
              <a:rPr sz="1700" b="0">
                <a:solidFill>
                  <a:srgbClr val="2E7D32"/>
                </a:solidFill>
              </a:rPr>
              <a:t>      early_blight/</a:t>
            </a:r>
          </a:p>
          <a:p>
            <a:r>
              <a:rPr sz="1800" b="0">
                <a:solidFill>
                  <a:srgbClr val="212121"/>
                </a:solidFill>
              </a:rPr>
              <a:t>          img003.jpg</a:t>
            </a:r>
          </a:p>
          <a:p>
            <a:r>
              <a:rPr sz="1700" b="0">
                <a:solidFill>
                  <a:srgbClr val="2E7D32"/>
                </a:solidFill>
              </a:rPr>
              <a:t>      late_blight/</a:t>
            </a:r>
          </a:p>
          <a:p>
            <a:r>
              <a:rPr sz="1800" b="0">
                <a:solidFill>
                  <a:srgbClr val="212121"/>
                </a:solidFill>
              </a:rPr>
              <a:t>          img004.jpg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Rules for this format</a:t>
            </a:r>
          </a:p>
          <a:p>
            <a:r>
              <a:rPr sz="1800" b="0">
                <a:solidFill>
                  <a:srgbClr val="212121"/>
                </a:solidFill>
              </a:rPr>
              <a:t>• One folder per disease class, directly under the root folder.</a:t>
            </a:r>
          </a:p>
          <a:p>
            <a:r>
              <a:rPr sz="1800" b="0">
                <a:solidFill>
                  <a:srgbClr val="212121"/>
                </a:solidFill>
              </a:rPr>
              <a:t>• Each folder contains only image files — no nested sub-folders.</a:t>
            </a:r>
          </a:p>
          <a:p>
            <a:r>
              <a:rPr sz="1800" b="0">
                <a:solidFill>
                  <a:srgbClr val="212121"/>
                </a:solidFill>
              </a:rPr>
              <a:t>• Do NOT pre-create train/, val/, or test/ folders yourself.</a:t>
            </a:r>
          </a:p>
          <a:p>
            <a:r>
              <a:rPr sz="1800" b="0">
                <a:solidFill>
                  <a:srgbClr val="212121"/>
                </a:solidFill>
              </a:rPr>
              <a:t>• The folder name IS the class label (e.g. 'early_blight').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Who uses this format</a:t>
            </a:r>
          </a:p>
          <a:p>
            <a:r>
              <a:rPr sz="1800" b="0">
                <a:solidFill>
                  <a:srgbClr val="212121"/>
                </a:solidFill>
              </a:rPr>
              <a:t>Notebook 0 (audit) and Notebook 2 class_root mode both accept this layout.</a:t>
            </a:r>
          </a:p>
          <a:p>
            <a:r>
              <a:rPr sz="1800" b="0">
                <a:solidFill>
                  <a:srgbClr val="212121"/>
                </a:solidFill>
              </a:rPr>
              <a:t>Notebook 2 automatically converts it to the runtime split layout before training.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263640"/>
            <a:ext cx="11457432" cy="43891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28192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32"/>
                </a:solidFill>
              </a:rPr>
              <a:t>Validate first:  .\scripts\python.cmd scripts/evaluate_dataset_layout.py --root data\tomato_flat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Dataset Format 2 — Runtime Split Layout (What Training Actually Uses)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What it looks like on disk</a:t>
            </a:r>
          </a:p>
          <a:p>
            <a:r>
              <a:rPr sz="1800" b="0">
                <a:solidFill>
                  <a:srgbClr val="212121"/>
                </a:solidFill>
              </a:rPr>
              <a:t>  data/tomato/</a:t>
            </a:r>
          </a:p>
          <a:p>
            <a:r>
              <a:rPr sz="1700" b="0">
                <a:solidFill>
                  <a:srgbClr val="2E7D32"/>
                </a:solidFill>
              </a:rPr>
              <a:t>      continual/</a:t>
            </a:r>
          </a:p>
          <a:p>
            <a:r>
              <a:rPr sz="1800" b="0">
                <a:solidFill>
                  <a:srgbClr val="212121"/>
                </a:solidFill>
              </a:rPr>
              <a:t>          healthy/   early_blight/   late_blight/</a:t>
            </a:r>
          </a:p>
          <a:p>
            <a:r>
              <a:rPr sz="1700" b="0">
                <a:solidFill>
                  <a:srgbClr val="2E7D32"/>
                </a:solidFill>
              </a:rPr>
              <a:t>      val/</a:t>
            </a:r>
          </a:p>
          <a:p>
            <a:r>
              <a:rPr sz="1800" b="0">
                <a:solidFill>
                  <a:srgbClr val="212121"/>
                </a:solidFill>
              </a:rPr>
              <a:t>          healthy/   early_blight/   late_blight/</a:t>
            </a:r>
          </a:p>
          <a:p>
            <a:r>
              <a:rPr sz="1700" b="0">
                <a:solidFill>
                  <a:srgbClr val="2E7D32"/>
                </a:solidFill>
              </a:rPr>
              <a:t>      test/</a:t>
            </a:r>
          </a:p>
          <a:p>
            <a:r>
              <a:rPr sz="1800" b="0">
                <a:solidFill>
                  <a:srgbClr val="212121"/>
                </a:solidFill>
              </a:rPr>
              <a:t>          healthy/   early_blight/   late_blight/</a:t>
            </a:r>
          </a:p>
          <a:p>
            <a:r>
              <a:rPr sz="1700" b="0">
                <a:solidFill>
                  <a:srgbClr val="F9A825"/>
                </a:solidFill>
              </a:rPr>
              <a:t>      ood/   (optional)</a:t>
            </a:r>
          </a:p>
          <a:p>
            <a:r>
              <a:rPr sz="1800" b="0">
                <a:solidFill>
                  <a:srgbClr val="212121"/>
                </a:solidFill>
              </a:rPr>
              <a:t>          other_plants/   background/   blur_clutter/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each folder means</a:t>
            </a:r>
          </a:p>
          <a:p>
            <a:r>
              <a:rPr sz="1800" b="0">
                <a:solidFill>
                  <a:srgbClr val="212121"/>
                </a:solidFill>
              </a:rPr>
              <a:t>  continual/ — main training split (~80% of images)</a:t>
            </a:r>
          </a:p>
          <a:p>
            <a:r>
              <a:rPr sz="1800" b="0">
                <a:solidFill>
                  <a:srgbClr val="212121"/>
                </a:solidFill>
              </a:rPr>
              <a:t>  val/        — used during training to pick the best checkpoint (~10%)</a:t>
            </a:r>
          </a:p>
          <a:p>
            <a:r>
              <a:rPr sz="1800" b="0">
                <a:solidFill>
                  <a:srgbClr val="212121"/>
                </a:solidFill>
              </a:rPr>
              <a:t>  test/       — held-out split for the final readiness verdict (~10%)</a:t>
            </a:r>
          </a:p>
          <a:p>
            <a:r>
              <a:rPr sz="1800" b="0">
                <a:solidFill>
                  <a:srgbClr val="212121"/>
                </a:solidFill>
              </a:rPr>
              <a:t>  ood/        — unknown images used to test OOD detection (recommended)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How it is created</a:t>
            </a:r>
          </a:p>
          <a:p>
            <a:r>
              <a:rPr sz="1800" b="0">
                <a:solidFill>
                  <a:srgbClr val="212121"/>
                </a:solidFill>
              </a:rPr>
              <a:t>Notebook 2 (class_root mode) or Notebook 0 creates this layout automatically.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Converting a Flat Dataset to a Runtime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Why the conversion is needed</a:t>
            </a:r>
          </a:p>
          <a:p>
            <a:r>
              <a:rPr sz="1800" b="0">
                <a:solidFill>
                  <a:srgbClr val="212121"/>
                </a:solidFill>
              </a:rPr>
              <a:t>The training workflow needs train/val/test splits to measure learning.</a:t>
            </a:r>
          </a:p>
          <a:p>
            <a:r>
              <a:rPr sz="1800" b="0">
                <a:solidFill>
                  <a:srgbClr val="212121"/>
                </a:solidFill>
              </a:rPr>
              <a:t>The flat layout has no splits — the system defines them for you.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Notebook 2 (class_root mode) does automatically</a:t>
            </a:r>
          </a:p>
          <a:p>
            <a:r>
              <a:rPr sz="1800" b="0">
                <a:solidFill>
                  <a:srgbClr val="212121"/>
                </a:solidFill>
              </a:rPr>
              <a:t>  1. Scans the flat class-root dataset.</a:t>
            </a:r>
          </a:p>
          <a:p>
            <a:r>
              <a:rPr sz="1800" b="0">
                <a:solidFill>
                  <a:srgbClr val="212121"/>
                </a:solidFill>
              </a:rPr>
              <a:t>  2. Groups near-duplicate and augmentation families using DINOv3 similarity.</a:t>
            </a:r>
          </a:p>
          <a:p>
            <a:r>
              <a:rPr sz="1800" b="0">
                <a:solidFill>
                  <a:srgbClr val="212121"/>
                </a:solidFill>
              </a:rPr>
              <a:t>  3. Splits images into continual / val / test keeping families together.</a:t>
            </a:r>
          </a:p>
          <a:p>
            <a:r>
              <a:rPr sz="1800" b="0">
                <a:solidFill>
                  <a:srgbClr val="212121"/>
                </a:solidFill>
              </a:rPr>
              <a:t>  4. Writes the runtime layout under data/runtime_notebook_datasets/&lt;crop&gt;/.</a:t>
            </a:r>
          </a:p>
          <a:p>
            <a:r>
              <a:rPr sz="1800" b="0">
                <a:solidFill>
                  <a:srgbClr val="212121"/>
                </a:solidFill>
              </a:rPr>
              <a:t>  5. Also writes split_manifest.json and _split_metadata.json for traceability.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The data integrity rule</a:t>
            </a:r>
          </a:p>
          <a:p>
            <a:r>
              <a:rPr sz="1800" b="0">
                <a:solidFill>
                  <a:srgbClr val="212121"/>
                </a:solidFill>
              </a:rPr>
              <a:t>Images from the same visual family (original + its augmentations) are kept</a:t>
            </a:r>
          </a:p>
          <a:p>
            <a:r>
              <a:rPr sz="1800" b="0">
                <a:solidFill>
                  <a:srgbClr val="212121"/>
                </a:solidFill>
              </a:rPr>
              <a:t>in the SAME split — preventing the model from 'cheating' by seeing an</a:t>
            </a:r>
          </a:p>
          <a:p>
            <a:r>
              <a:rPr sz="1800" b="0">
                <a:solidFill>
                  <a:srgbClr val="212121"/>
                </a:solidFill>
              </a:rPr>
              <a:t>augmented copy of a test image during training. This avoids data leakage.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700" b="1">
                <a:solidFill>
                  <a:srgbClr val="2E7D32"/>
                </a:solidFill>
              </a:rPr>
              <a:t>For stricter control, use Notebook 0 first to audit before converting.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Training Pipeline — 8 Steps from Config to Exported Adapter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Entrypoint: src/workflows/training.py  -&gt;  TrainingWorkflow.run(...)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2E7D32"/>
                </a:solidFill>
              </a:rPr>
              <a:t>  Step 1   Load configuration</a:t>
            </a:r>
          </a:p>
          <a:p>
            <a:r>
              <a:rPr sz="1800" b="0">
                <a:solidFill>
                  <a:srgbClr val="212121"/>
                </a:solidFill>
              </a:rPr>
              <a:t>           Read config/base.json; apply Colab overrides if needed.</a:t>
            </a:r>
          </a:p>
          <a:p>
            <a:r>
              <a:rPr sz="1800" b="1">
                <a:solidFill>
                  <a:srgbClr val="2E7D32"/>
                </a:solidFill>
              </a:rPr>
              <a:t>  Step 2   Build data loaders</a:t>
            </a:r>
          </a:p>
          <a:p>
            <a:r>
              <a:rPr sz="1800" b="0">
                <a:solidFill>
                  <a:srgbClr val="212121"/>
                </a:solidFill>
              </a:rPr>
              <a:t>           Read the runtime split layout; create training batches.</a:t>
            </a:r>
          </a:p>
          <a:p>
            <a:r>
              <a:rPr sz="1800" b="1">
                <a:solidFill>
                  <a:srgbClr val="2E7D32"/>
                </a:solidFill>
              </a:rPr>
              <a:t>  Step 3   Construct the adapter</a:t>
            </a:r>
          </a:p>
          <a:p>
            <a:r>
              <a:rPr sz="1800" b="0">
                <a:solidFill>
                  <a:srgbClr val="212121"/>
                </a:solidFill>
              </a:rPr>
              <a:t>           Freeze DINOv3; attach LoRA on all transformer linear layers.</a:t>
            </a:r>
          </a:p>
          <a:p>
            <a:r>
              <a:rPr sz="1800" b="1">
                <a:solidFill>
                  <a:srgbClr val="2E7D32"/>
                </a:solidFill>
              </a:rPr>
              <a:t>  Step 4   Train</a:t>
            </a:r>
          </a:p>
          <a:p>
            <a:r>
              <a:rPr sz="1800" b="0">
                <a:solidFill>
                  <a:srgbClr val="212121"/>
                </a:solidFill>
              </a:rPr>
              <a:t>           Run epochs; fuse multi-scale features; optimise classifier.</a:t>
            </a:r>
          </a:p>
          <a:p>
            <a:r>
              <a:rPr sz="1800" b="1">
                <a:solidFill>
                  <a:srgbClr val="2E7D32"/>
                </a:solidFill>
              </a:rPr>
              <a:t>  Step 5   Restore best weights</a:t>
            </a:r>
          </a:p>
          <a:p>
            <a:r>
              <a:rPr sz="1800" b="0">
                <a:solidFill>
                  <a:srgbClr val="212121"/>
                </a:solidFill>
              </a:rPr>
              <a:t>           Load the checkpoint with lowest validation loss.</a:t>
            </a:r>
          </a:p>
          <a:p>
            <a:r>
              <a:rPr sz="1800" b="1">
                <a:solidFill>
                  <a:srgbClr val="2E7D32"/>
                </a:solidFill>
              </a:rPr>
              <a:t>  Step 6   Calibrate OOD</a:t>
            </a:r>
          </a:p>
          <a:p>
            <a:r>
              <a:rPr sz="1800" b="0">
                <a:solidFill>
                  <a:srgbClr val="212121"/>
                </a:solidFill>
              </a:rPr>
              <a:t>           Fit SURE+, conformal prediction, kNN, and energy detectors.</a:t>
            </a:r>
          </a:p>
          <a:p>
            <a:r>
              <a:rPr sz="1800" b="1">
                <a:solidFill>
                  <a:srgbClr val="2E7D32"/>
                </a:solidFill>
              </a:rPr>
              <a:t>  Step 7   Write artifacts</a:t>
            </a:r>
          </a:p>
          <a:p>
            <a:r>
              <a:rPr sz="1800" b="0">
                <a:solidFill>
                  <a:srgbClr val="212121"/>
                </a:solidFill>
              </a:rPr>
              <a:t>           Save confusion matrix, reports, and production_readiness.json.</a:t>
            </a:r>
          </a:p>
          <a:p>
            <a:r>
              <a:rPr sz="1800" b="1">
                <a:solidFill>
                  <a:srgbClr val="2E7D32"/>
                </a:solidFill>
              </a:rPr>
              <a:t>  Step 8   Export adapter</a:t>
            </a:r>
          </a:p>
          <a:p>
            <a:r>
              <a:rPr sz="1800" b="0">
                <a:solidFill>
                  <a:srgbClr val="212121"/>
                </a:solidFill>
              </a:rPr>
              <a:t>           Save to models/adapters/&lt;crop&gt;/continual_sd_lora_adapter/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Training Steps 1-4 Explained in Plain Language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Step 1 — Load Configuration</a:t>
            </a:r>
          </a:p>
          <a:p>
            <a:r>
              <a:rPr sz="1800" b="0">
                <a:solidFill>
                  <a:srgbClr val="212121"/>
                </a:solidFill>
              </a:rPr>
              <a:t>config/base.json holds every setting: learning rate, batch size, LoRA rank.</a:t>
            </a:r>
          </a:p>
          <a:p>
            <a:r>
              <a:rPr sz="1800" b="0">
                <a:solidFill>
                  <a:srgbClr val="212121"/>
                </a:solidFill>
              </a:rPr>
              <a:t>In Colab, config/colab.json overrides specific values automatically.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2 — Build Data Loaders</a:t>
            </a:r>
          </a:p>
          <a:p>
            <a:r>
              <a:rPr sz="1800" b="0">
                <a:solidFill>
                  <a:srgbClr val="212121"/>
                </a:solidFill>
              </a:rPr>
              <a:t>A 'data loader' reads image files, resizes them to 224x224 pixels,</a:t>
            </a:r>
          </a:p>
          <a:p>
            <a:r>
              <a:rPr sz="1800" b="0">
                <a:solidFill>
                  <a:srgbClr val="212121"/>
                </a:solidFill>
              </a:rPr>
              <a:t>converts pixels to numbers, and delivers them in batches of 8 (default).</a:t>
            </a:r>
          </a:p>
          <a:p>
            <a:r>
              <a:rPr sz="1800" b="0">
                <a:solidFill>
                  <a:srgbClr val="212121"/>
                </a:solidFill>
              </a:rPr>
              <a:t>It also shuffles the training data each epoch to improve generalisation.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3 — Construct the Adapter</a:t>
            </a:r>
          </a:p>
          <a:p>
            <a:r>
              <a:rPr sz="1800" b="0">
                <a:solidFill>
                  <a:srgbClr val="212121"/>
                </a:solidFill>
              </a:rPr>
              <a:t>• Load DINOv3 weights from Hugging Face Hub (needs internet + HF token).</a:t>
            </a:r>
          </a:p>
          <a:p>
            <a:r>
              <a:rPr sz="1800" b="0">
                <a:solidFill>
                  <a:srgbClr val="212121"/>
                </a:solidFill>
              </a:rPr>
              <a:t>• Freeze all DINOv3 parameters (backbone cannot change during training).</a:t>
            </a:r>
          </a:p>
          <a:p>
            <a:r>
              <a:rPr sz="1800" b="0">
                <a:solidFill>
                  <a:srgbClr val="212121"/>
                </a:solidFill>
              </a:rPr>
              <a:t>• Insert LoRA matrices into every transformer linear layer.</a:t>
            </a:r>
          </a:p>
          <a:p>
            <a:r>
              <a:rPr sz="1800" b="0">
                <a:solidFill>
                  <a:srgbClr val="212121"/>
                </a:solidFill>
              </a:rPr>
              <a:t>• Add multi-scale fusion module (blends layers 2, 5, 8, 11 of DINOv3).</a:t>
            </a:r>
          </a:p>
          <a:p>
            <a:r>
              <a:rPr sz="1800" b="0">
                <a:solidFill>
                  <a:srgbClr val="212121"/>
                </a:solidFill>
              </a:rPr>
              <a:t>• Add a final classification head (one output per disease class).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4 — Train</a:t>
            </a:r>
          </a:p>
          <a:p>
            <a:r>
              <a:rPr sz="1800" b="0">
                <a:solidFill>
                  <a:srgbClr val="212121"/>
                </a:solidFill>
              </a:rPr>
              <a:t>Each batch: forward pass -&gt; compute loss -&gt; backward pass -&gt; update LoRA.</a:t>
            </a:r>
          </a:p>
          <a:p>
            <a:r>
              <a:rPr sz="1800" b="0">
                <a:solidFill>
                  <a:srgbClr val="212121"/>
                </a:solidFill>
              </a:rPr>
              <a:t>Early stopping halts training if val_loss stops improving after 5 epochs.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Training Steps 5-8 Explained in Plain Language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Step 5 — Restore Best Weights</a:t>
            </a:r>
          </a:p>
          <a:p>
            <a:r>
              <a:rPr sz="1800" b="0">
                <a:solidFill>
                  <a:srgbClr val="212121"/>
                </a:solidFill>
              </a:rPr>
              <a:t>During training, a snapshot is saved whenever val_loss improves.</a:t>
            </a:r>
          </a:p>
          <a:p>
            <a:r>
              <a:rPr sz="1800" b="0">
                <a:solidFill>
                  <a:srgbClr val="212121"/>
                </a:solidFill>
              </a:rPr>
              <a:t>After training ends, the best snapshot (not the last one) is reloaded.</a:t>
            </a:r>
          </a:p>
          <a:p>
            <a:r>
              <a:rPr sz="1800" b="0">
                <a:solidFill>
                  <a:srgbClr val="212121"/>
                </a:solidFill>
              </a:rPr>
              <a:t>This prevents deploying an overfit version from the final epoch.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6 — Calibrate OOD</a:t>
            </a:r>
          </a:p>
          <a:p>
            <a:r>
              <a:rPr sz="1800" b="0">
                <a:solidFill>
                  <a:srgbClr val="212121"/>
                </a:solidFill>
              </a:rPr>
              <a:t>OOD detectors are fitted on known-class features extracted by the trained model.</a:t>
            </a:r>
          </a:p>
          <a:p>
            <a:r>
              <a:rPr sz="1800" b="0">
                <a:solidFill>
                  <a:srgbClr val="212121"/>
                </a:solidFill>
              </a:rPr>
              <a:t>They record the 'normal' score range for known classes.</a:t>
            </a:r>
          </a:p>
          <a:p>
            <a:r>
              <a:rPr sz="1800" b="0">
                <a:solidFill>
                  <a:srgbClr val="212121"/>
                </a:solidFill>
              </a:rPr>
              <a:t>At inference, anything outside that range is flagged as out-of-distribution.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7 — Write Artifacts</a:t>
            </a:r>
          </a:p>
          <a:p>
            <a:r>
              <a:rPr sz="1800" b="0">
                <a:solidFill>
                  <a:srgbClr val="212121"/>
                </a:solidFill>
              </a:rPr>
              <a:t>  • training/metric_gate.json    — per-epoch loss and accuracy curves</a:t>
            </a:r>
          </a:p>
          <a:p>
            <a:r>
              <a:rPr sz="1800" b="0">
                <a:solidFill>
                  <a:srgbClr val="212121"/>
                </a:solidFill>
              </a:rPr>
              <a:t>  • validation/metric_gate.json  — held-out validation results</a:t>
            </a:r>
          </a:p>
          <a:p>
            <a:r>
              <a:rPr sz="1800" b="0">
                <a:solidFill>
                  <a:srgbClr val="212121"/>
                </a:solidFill>
              </a:rPr>
              <a:t>  • test/metric_gate.json        — final test results (diagnostic only)</a:t>
            </a:r>
          </a:p>
          <a:p>
            <a:r>
              <a:rPr sz="1800" b="0">
                <a:solidFill>
                  <a:srgbClr val="212121"/>
                </a:solidFill>
              </a:rPr>
              <a:t>  • Confusion matrix PNG         — shows which classes were confused</a:t>
            </a:r>
          </a:p>
          <a:p>
            <a:r>
              <a:rPr sz="1800" b="0">
                <a:solidFill>
                  <a:srgbClr val="212121"/>
                </a:solidFill>
              </a:rPr>
              <a:t>  • production_readiness.json    — THE FINAL DEPLOYMENT VERDICT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Step 8 — Export Adapter</a:t>
            </a:r>
          </a:p>
          <a:p>
            <a:r>
              <a:rPr sz="1800" b="0">
                <a:solidFill>
                  <a:srgbClr val="212121"/>
                </a:solidFill>
              </a:rPr>
              <a:t>Writes the complete adapter bundle to:</a:t>
            </a:r>
          </a:p>
          <a:p>
            <a:r>
              <a:rPr sz="1800" b="0">
                <a:solidFill>
                  <a:srgbClr val="212121"/>
                </a:solidFill>
              </a:rPr>
              <a:t>  models/adapters/&lt;crop&gt;/continual_sd_lora_adapter/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What Happens During Training — Epochs, Loss, and Optimisation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What is an 'epoch'?</a:t>
            </a:r>
          </a:p>
          <a:p>
            <a:r>
              <a:rPr sz="1800" b="0">
                <a:solidFill>
                  <a:srgbClr val="212121"/>
                </a:solidFill>
              </a:rPr>
              <a:t>One complete pass through all the training images. Default: 25 epochs.</a:t>
            </a:r>
          </a:p>
          <a:p>
            <a:r>
              <a:rPr sz="1800" b="0">
                <a:solidFill>
                  <a:srgbClr val="212121"/>
                </a:solidFill>
              </a:rPr>
              <a:t>Each epoch the model sees every training image exactly once.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is 'loss'?</a:t>
            </a:r>
          </a:p>
          <a:p>
            <a:r>
              <a:rPr sz="1800" b="0">
                <a:solidFill>
                  <a:srgbClr val="212121"/>
                </a:solidFill>
              </a:rPr>
              <a:t>A number measuring how wrong the model is on each batch.</a:t>
            </a:r>
          </a:p>
          <a:p>
            <a:r>
              <a:rPr sz="1800" b="0">
                <a:solidFill>
                  <a:srgbClr val="212121"/>
                </a:solidFill>
              </a:rPr>
              <a:t>High loss = very wrong. The goal of training is to minimise loss.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How the model improves — gradient descent</a:t>
            </a:r>
          </a:p>
          <a:p>
            <a:r>
              <a:rPr sz="1800" b="0">
                <a:solidFill>
                  <a:srgbClr val="212121"/>
                </a:solidFill>
              </a:rPr>
              <a:t>After each batch, the model calculates which direction to nudge each</a:t>
            </a:r>
          </a:p>
          <a:p>
            <a:r>
              <a:rPr sz="1800" b="0">
                <a:solidFill>
                  <a:srgbClr val="212121"/>
                </a:solidFill>
              </a:rPr>
              <a:t>LoRA weight to reduce loss. This is the 'backward pass' (backpropagation).</a:t>
            </a:r>
          </a:p>
          <a:p>
            <a:r>
              <a:rPr sz="1800" b="0">
                <a:solidFill>
                  <a:srgbClr val="212121"/>
                </a:solidFill>
              </a:rPr>
              <a:t>Learning rate controls how big each nudge is (default: 0.0001).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Cosine learning-rate scheduler with warm-up</a:t>
            </a:r>
          </a:p>
          <a:p>
            <a:r>
              <a:rPr sz="1800" b="0">
                <a:solidFill>
                  <a:srgbClr val="212121"/>
                </a:solidFill>
              </a:rPr>
              <a:t>The learning rate starts small, ramps up for ~10% of training steps,</a:t>
            </a:r>
          </a:p>
          <a:p>
            <a:r>
              <a:rPr sz="1800" b="0">
                <a:solidFill>
                  <a:srgbClr val="212121"/>
                </a:solidFill>
              </a:rPr>
              <a:t>then gradually shrinks following a cosine curve — this stabilises training.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Gradient accumulation (steps = 4)</a:t>
            </a:r>
          </a:p>
          <a:p>
            <a:r>
              <a:rPr sz="1800" b="0">
                <a:solidFill>
                  <a:srgbClr val="212121"/>
                </a:solidFill>
              </a:rPr>
              <a:t>4 small batches are accumulated before one weight update.</a:t>
            </a:r>
          </a:p>
          <a:p>
            <a:r>
              <a:rPr sz="1800" b="0">
                <a:solidFill>
                  <a:srgbClr val="212121"/>
                </a:solidFill>
              </a:rPr>
              <a:t>Effective batch size = 8 x 4 = 32. Saves GPU memory without sacrificing quality.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What Is Out-of-Distribution (OOD)?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The core idea — every model has a 'comfort zone'</a:t>
            </a:r>
          </a:p>
          <a:p>
            <a:r>
              <a:rPr sz="1800" b="0">
                <a:solidFill>
                  <a:srgbClr val="212121"/>
                </a:solidFill>
              </a:rPr>
              <a:t>A tomato adapter trained on {healthy, early_blight, late_blight}</a:t>
            </a:r>
          </a:p>
          <a:p>
            <a:r>
              <a:rPr sz="1800" b="0">
                <a:solidFill>
                  <a:srgbClr val="212121"/>
                </a:solidFill>
              </a:rPr>
              <a:t>was never shown a rose, a potato, or a random photo.</a:t>
            </a:r>
          </a:p>
          <a:p>
            <a:r>
              <a:rPr sz="1800" b="0">
                <a:solidFill>
                  <a:srgbClr val="212121"/>
                </a:solidFill>
              </a:rPr>
              <a:t>When it encounters one, what should it do?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The danger: confident wrong answers</a:t>
            </a:r>
          </a:p>
          <a:p>
            <a:r>
              <a:rPr sz="1800" b="0">
                <a:solidFill>
                  <a:srgbClr val="212121"/>
                </a:solidFill>
              </a:rPr>
              <a:t>Without OOD detection, the model still outputs one of its known labels.</a:t>
            </a:r>
          </a:p>
          <a:p>
            <a:r>
              <a:rPr sz="1800" b="0">
                <a:solidFill>
                  <a:srgbClr val="212121"/>
                </a:solidFill>
              </a:rPr>
              <a:t>It might say 'early_blight' with 95% confidence — even for a car photo.</a:t>
            </a:r>
          </a:p>
          <a:p>
            <a:r>
              <a:rPr sz="1800" b="0">
                <a:solidFill>
                  <a:srgbClr val="212121"/>
                </a:solidFill>
              </a:rPr>
              <a:t>This is called overconfidence on out-of-distribution inputs.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Real OOD examples for a tomato adapter</a:t>
            </a:r>
          </a:p>
          <a:p>
            <a:r>
              <a:rPr sz="1800" b="0">
                <a:solidFill>
                  <a:srgbClr val="212121"/>
                </a:solidFill>
              </a:rPr>
              <a:t>  • A tomato disease NOT included in the training label set</a:t>
            </a:r>
          </a:p>
          <a:p>
            <a:r>
              <a:rPr sz="1800" b="0">
                <a:solidFill>
                  <a:srgbClr val="212121"/>
                </a:solidFill>
              </a:rPr>
              <a:t>  • A potato or wheat leaf image</a:t>
            </a:r>
          </a:p>
          <a:p>
            <a:r>
              <a:rPr sz="1800" b="0">
                <a:solidFill>
                  <a:srgbClr val="212121"/>
                </a:solidFill>
              </a:rPr>
              <a:t>  • A blurry, heavily occluded, or physically damaged leaf</a:t>
            </a:r>
          </a:p>
          <a:p>
            <a:r>
              <a:rPr sz="1800" b="0">
                <a:solidFill>
                  <a:srgbClr val="212121"/>
                </a:solidFill>
              </a:rPr>
              <a:t>  • A non-plant image (background, random object, sky)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good OOD detection does</a:t>
            </a:r>
          </a:p>
          <a:p>
            <a:r>
              <a:rPr sz="1800" b="0">
                <a:solidFill>
                  <a:srgbClr val="212121"/>
                </a:solidFill>
              </a:rPr>
              <a:t>It flags these inputs as 'unknown' instead of forcing a wrong label.</a:t>
            </a:r>
          </a:p>
          <a:p>
            <a:r>
              <a:rPr sz="1800" b="0">
                <a:solidFill>
                  <a:srgbClr val="212121"/>
                </a:solidFill>
              </a:rPr>
              <a:t>The system returns a structured uncertainty signal the app can act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Why OOD Detection Matters for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The deployment contract</a:t>
            </a:r>
          </a:p>
          <a:p>
            <a:r>
              <a:rPr sz="1800" b="0">
                <a:solidFill>
                  <a:srgbClr val="212121"/>
                </a:solidFill>
              </a:rPr>
              <a:t>A farmer in the field sometimes photographs the wrong thing —</a:t>
            </a:r>
          </a:p>
          <a:p>
            <a:r>
              <a:rPr sz="1800" b="0">
                <a:solidFill>
                  <a:srgbClr val="212121"/>
                </a:solidFill>
              </a:rPr>
              <a:t>a stem, a field boundary, or even the sky by accident.</a:t>
            </a:r>
          </a:p>
          <a:p>
            <a:r>
              <a:rPr sz="1800" b="0">
                <a:solidFill>
                  <a:srgbClr val="212121"/>
                </a:solidFill>
              </a:rPr>
              <a:t>A deployed system must handle these cases gracefully.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Type 1 failure — Wrong label with high confidence</a:t>
            </a:r>
          </a:p>
          <a:p>
            <a:r>
              <a:rPr sz="1800" b="0">
                <a:solidFill>
                  <a:srgbClr val="212121"/>
                </a:solidFill>
              </a:rPr>
              <a:t>  The model says 'late_blight — spray fungicide NOW'</a:t>
            </a:r>
          </a:p>
          <a:p>
            <a:r>
              <a:rPr sz="1800" b="0">
                <a:solidFill>
                  <a:srgbClr val="212121"/>
                </a:solidFill>
              </a:rPr>
              <a:t>  on an image that shows no disease at all.</a:t>
            </a:r>
          </a:p>
          <a:p>
            <a:r>
              <a:rPr sz="1800" b="0">
                <a:solidFill>
                  <a:srgbClr val="212121"/>
                </a:solidFill>
              </a:rPr>
              <a:t>  This causes unnecessary cost and environmental harm.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Type 2 failure — Missing detection</a:t>
            </a:r>
          </a:p>
          <a:p>
            <a:r>
              <a:rPr sz="1800" b="0">
                <a:solidFill>
                  <a:srgbClr val="212121"/>
                </a:solidFill>
              </a:rPr>
              <a:t>  The model says 'healthy' on a diseased leaf not in its training set.</a:t>
            </a:r>
          </a:p>
          <a:p>
            <a:r>
              <a:rPr sz="1800" b="0">
                <a:solidFill>
                  <a:srgbClr val="212121"/>
                </a:solidFill>
              </a:rPr>
              <a:t>  The disease spreads undetected while the farmer feels falsely reassured.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Why accuracy alone is not enough</a:t>
            </a:r>
          </a:p>
          <a:p>
            <a:r>
              <a:rPr sz="1800" b="0">
                <a:solidFill>
                  <a:srgbClr val="212121"/>
                </a:solidFill>
              </a:rPr>
              <a:t>A model can score 99% accuracy on known test images and still be dangerous</a:t>
            </a:r>
          </a:p>
          <a:p>
            <a:r>
              <a:rPr sz="1800" b="0">
                <a:solidFill>
                  <a:srgbClr val="212121"/>
                </a:solidFill>
              </a:rPr>
              <a:t>in production if it is overconfident on unknown inputs.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F9A825"/>
                </a:solidFill>
              </a:rPr>
              <a:t>AADS requires BOTH accuracy AND OOD safety before declaring 'ready'.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How AADS Detects OOD — Five Complementary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1  SURE+ / DS-F1 double scoring</a:t>
            </a:r>
          </a:p>
          <a:p>
            <a:r>
              <a:rPr sz="1800" b="0">
                <a:solidFill>
                  <a:srgbClr val="212121"/>
                </a:solidFill>
              </a:rPr>
              <a:t>Two scores combined: (a) semantic similarity to known classes,</a:t>
            </a:r>
          </a:p>
          <a:p>
            <a:r>
              <a:rPr sz="1800" b="0">
                <a:solidFill>
                  <a:srgbClr val="212121"/>
                </a:solidFill>
              </a:rPr>
              <a:t>(b) classifier confidence. Both must look 'normal' to accept the input.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2  Conformal prediction (RAPS mode, default)</a:t>
            </a:r>
          </a:p>
          <a:p>
            <a:r>
              <a:rPr sz="1800" b="0">
                <a:solidFill>
                  <a:srgbClr val="212121"/>
                </a:solidFill>
              </a:rPr>
              <a:t>A mathematically principled method producing a prediction SET instead of</a:t>
            </a:r>
          </a:p>
          <a:p>
            <a:r>
              <a:rPr sz="1800" b="0">
                <a:solidFill>
                  <a:srgbClr val="212121"/>
                </a:solidFill>
              </a:rPr>
              <a:t>a single label. Example: returns {early_blight, late_blight} when uncertain.</a:t>
            </a:r>
          </a:p>
          <a:p>
            <a:r>
              <a:rPr sz="1800" b="0">
                <a:solidFill>
                  <a:srgbClr val="212121"/>
                </a:solidFill>
              </a:rPr>
              <a:t>Coverage guarantee: the true class is in the set &gt;= 95% of the time.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3  kNN distance scoring</a:t>
            </a:r>
          </a:p>
          <a:p>
            <a:r>
              <a:rPr sz="1800" b="0">
                <a:solidFill>
                  <a:srgbClr val="212121"/>
                </a:solidFill>
              </a:rPr>
              <a:t>Compares the feature vector of the new image to K nearest neighbours</a:t>
            </a:r>
          </a:p>
          <a:p>
            <a:r>
              <a:rPr sz="1800" b="0">
                <a:solidFill>
                  <a:srgbClr val="212121"/>
                </a:solidFill>
              </a:rPr>
              <a:t>in the training set. Large distance from all neighbours = likely OOD.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4  Energy detector</a:t>
            </a:r>
          </a:p>
          <a:p>
            <a:r>
              <a:rPr sz="1800" b="0">
                <a:solidFill>
                  <a:srgbClr val="212121"/>
                </a:solidFill>
              </a:rPr>
              <a:t>Computes an 'energy' value from the model's output logits.</a:t>
            </a:r>
          </a:p>
          <a:p>
            <a:r>
              <a:rPr sz="1800" b="0">
                <a:solidFill>
                  <a:srgbClr val="212121"/>
                </a:solidFill>
              </a:rPr>
              <a:t>Low energy = confident in-distribution. High energy = uncertain / OOD.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5  Radial normalisation</a:t>
            </a:r>
          </a:p>
          <a:p>
            <a:r>
              <a:rPr sz="1800" b="0">
                <a:solidFill>
                  <a:srgbClr val="212121"/>
                </a:solidFill>
              </a:rPr>
              <a:t>Normalises the feature space so known classes form tight clusters.</a:t>
            </a:r>
          </a:p>
          <a:p>
            <a:r>
              <a:rPr sz="1800" b="0">
                <a:solidFill>
                  <a:srgbClr val="212121"/>
                </a:solidFill>
              </a:rPr>
              <a:t>Inputs far from all cluster centres are scored as OOD.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OOD Calibration — Setting the 'Normal'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What calibration means (a simple analogy)</a:t>
            </a:r>
          </a:p>
          <a:p>
            <a:r>
              <a:rPr sz="1800" b="0">
                <a:solidFill>
                  <a:srgbClr val="212121"/>
                </a:solidFill>
              </a:rPr>
              <a:t>Imagine a factory that makes bolts of a standard diameter.</a:t>
            </a:r>
          </a:p>
          <a:p>
            <a:r>
              <a:rPr sz="1800" b="0">
                <a:solidFill>
                  <a:srgbClr val="212121"/>
                </a:solidFill>
              </a:rPr>
              <a:t>You measure 1 000 good bolts and record the acceptable diameter range.</a:t>
            </a:r>
          </a:p>
          <a:p>
            <a:r>
              <a:rPr sz="1800" b="0">
                <a:solidFill>
                  <a:srgbClr val="212121"/>
                </a:solidFill>
              </a:rPr>
              <a:t>Any new bolt outside that range is flagged as defective.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2E7D32"/>
                </a:solidFill>
              </a:rPr>
              <a:t>OOD calibration works the same way:</a:t>
            </a:r>
          </a:p>
          <a:p>
            <a:r>
              <a:rPr sz="1800" b="0">
                <a:solidFill>
                  <a:srgbClr val="212121"/>
                </a:solidFill>
              </a:rPr>
              <a:t>  1. Run all known-class images through the trained model.</a:t>
            </a:r>
          </a:p>
          <a:p>
            <a:r>
              <a:rPr sz="1800" b="0">
                <a:solidFill>
                  <a:srgbClr val="212121"/>
                </a:solidFill>
              </a:rPr>
              <a:t>  2. Record the 'normal' range of OOD scores for those known images.</a:t>
            </a:r>
          </a:p>
          <a:p>
            <a:r>
              <a:rPr sz="1800" b="0">
                <a:solidFill>
                  <a:srgbClr val="212121"/>
                </a:solidFill>
              </a:rPr>
              <a:t>  3. Set thresholds: anything outside the normal range -&gt; flag as OOD.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Important isolation rule</a:t>
            </a:r>
          </a:p>
          <a:p>
            <a:r>
              <a:rPr sz="1800" b="0">
                <a:solidFill>
                  <a:srgbClr val="212121"/>
                </a:solidFill>
              </a:rPr>
              <a:t>Calibration data must NOT overlap with final evaluation data.</a:t>
            </a:r>
          </a:p>
          <a:p>
            <a:r>
              <a:rPr sz="1800" b="0">
                <a:solidFill>
                  <a:srgbClr val="212121"/>
                </a:solidFill>
              </a:rPr>
              <a:t>If val/ is used for calibration, only test/ can provide the final verdict.</a:t>
            </a:r>
          </a:p>
          <a:p>
            <a:r>
              <a:rPr sz="1800" b="0">
                <a:solidFill>
                  <a:srgbClr val="212121"/>
                </a:solidFill>
              </a:rPr>
              <a:t>AADS enforces this automatically — if violated, readiness fails with an error.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The BER loss wrapper (training aid)</a:t>
            </a:r>
          </a:p>
          <a:p>
            <a:r>
              <a:rPr sz="1800" b="0">
                <a:solidFill>
                  <a:srgbClr val="212121"/>
                </a:solidFill>
              </a:rPr>
              <a:t>BER (Balanced Error Rate) loss prevents the model from being biased</a:t>
            </a:r>
          </a:p>
          <a:p>
            <a:r>
              <a:rPr sz="1800" b="0">
                <a:solidFill>
                  <a:srgbClr val="212121"/>
                </a:solidFill>
              </a:rPr>
              <a:t>towards larger disease classes, keeping calibration fair across all classes.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Deployment Readiness — The Two-Part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What production_readiness.json answers</a:t>
            </a:r>
          </a:p>
          <a:p>
            <a:r>
              <a:rPr sz="1800" b="0">
                <a:solidFill>
                  <a:srgbClr val="212121"/>
                </a:solidFill>
              </a:rPr>
              <a:t>'Is this adapter accurate enough AND safe enough to deploy in production?'</a:t>
            </a:r>
          </a:p>
          <a:p>
            <a:r>
              <a:rPr sz="1800" b="0">
                <a:solidFill>
                  <a:srgbClr val="212121"/>
                </a:solidFill>
              </a:rPr>
              <a:t>It is the ONLY file to use for a go / no-go deployment decision.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Part 1 — Classification quality</a:t>
            </a:r>
          </a:p>
          <a:p>
            <a:r>
              <a:rPr sz="1800" b="0">
                <a:solidFill>
                  <a:srgbClr val="212121"/>
                </a:solidFill>
              </a:rPr>
              <a:t>Can the model correctly separate the classes it was trained to support?</a:t>
            </a:r>
          </a:p>
          <a:p>
            <a:r>
              <a:rPr sz="1800" b="0">
                <a:solidFill>
                  <a:srgbClr val="212121"/>
                </a:solidFill>
              </a:rPr>
              <a:t>  Default threshold:  accuracy &gt;= 0.93  (93% correct on the test split)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Part 2 — OOD safety</a:t>
            </a:r>
          </a:p>
          <a:p>
            <a:r>
              <a:rPr sz="1800" b="0">
                <a:solidFill>
                  <a:srgbClr val="212121"/>
                </a:solidFill>
              </a:rPr>
              <a:t>Can the model avoid overconfident wrong predictions on unknown inputs?</a:t>
            </a:r>
          </a:p>
          <a:p>
            <a:r>
              <a:rPr sz="1800" b="0">
                <a:solidFill>
                  <a:srgbClr val="212121"/>
                </a:solidFill>
              </a:rPr>
              <a:t>  Default thresholds:</a:t>
            </a:r>
          </a:p>
          <a:p>
            <a:r>
              <a:rPr sz="1800" b="0">
                <a:solidFill>
                  <a:srgbClr val="212121"/>
                </a:solidFill>
              </a:rPr>
              <a:t>    ood_auroc &gt;= 0.92                  (Area Under ROC for OOD detection)</a:t>
            </a:r>
          </a:p>
          <a:p>
            <a:r>
              <a:rPr sz="1800" b="0">
                <a:solidFill>
                  <a:srgbClr val="212121"/>
                </a:solidFill>
              </a:rPr>
              <a:t>    ood_false_positive_rate &lt;= 0.05    (max 5% of OOD inputs misclassified)</a:t>
            </a:r>
          </a:p>
          <a:p>
            <a:r>
              <a:rPr sz="1800" b="0">
                <a:solidFill>
                  <a:srgbClr val="212121"/>
                </a:solidFill>
              </a:rPr>
              <a:t>    sure_ds_f1 &gt;= 0.90                 (combined semantic + confidence score)</a:t>
            </a:r>
          </a:p>
          <a:p>
            <a:r>
              <a:rPr sz="1800" b="0">
                <a:solidFill>
                  <a:srgbClr val="212121"/>
                </a:solidFill>
              </a:rPr>
              <a:t>    conformal_empirical_coverage &gt;= 0.95  (prediction sets must be reliable)</a:t>
            </a:r>
          </a:p>
          <a:p>
            <a:r>
              <a:rPr sz="1800" b="0">
                <a:solidFill>
                  <a:srgbClr val="212121"/>
                </a:solidFill>
              </a:rPr>
              <a:t>    conformal_avg_set_size &lt;= 2.0         (prediction sets must be tight)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F9A825"/>
                </a:solidFill>
              </a:rPr>
              <a:t>Both parts must pass. A model with 99% accuracy can still FAIL readiness.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Reading production_readiness.json — Field by 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Top-level fields to check first</a:t>
            </a:r>
          </a:p>
          <a:p>
            <a:r>
              <a:rPr sz="1800" b="0">
                <a:solidFill>
                  <a:srgbClr val="212121"/>
                </a:solidFill>
              </a:rPr>
              <a:t>  "status":               "ready"  or  "failed"          &lt;- start here</a:t>
            </a:r>
          </a:p>
          <a:p>
            <a:r>
              <a:rPr sz="1800" b="0">
                <a:solidFill>
                  <a:srgbClr val="212121"/>
                </a:solidFill>
              </a:rPr>
              <a:t>  "passed":               true  or  false                &lt;- same thing as boolean</a:t>
            </a:r>
          </a:p>
          <a:p>
            <a:r>
              <a:rPr sz="1800" b="0">
                <a:solidFill>
                  <a:srgbClr val="212121"/>
                </a:solidFill>
              </a:rPr>
              <a:t>  "missing_requirements": [ ... ]                        &lt;- what failed (empty if ok)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Classification evidence</a:t>
            </a:r>
          </a:p>
          <a:p>
            <a:r>
              <a:rPr sz="1800" b="0">
                <a:solidFill>
                  <a:srgbClr val="212121"/>
                </a:solidFill>
              </a:rPr>
              <a:t>  "classification_evidence.split_name"  &lt;- which split was used (test or val)</a:t>
            </a:r>
          </a:p>
          <a:p>
            <a:r>
              <a:rPr sz="1800" b="0">
                <a:solidFill>
                  <a:srgbClr val="212121"/>
                </a:solidFill>
              </a:rPr>
              <a:t>  "classification_evidence.metrics"     &lt;- accuracy, F1-score, etc.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OOD evidence</a:t>
            </a:r>
          </a:p>
          <a:p>
            <a:r>
              <a:rPr sz="1800" b="0">
                <a:solidFill>
                  <a:srgbClr val="212121"/>
                </a:solidFill>
              </a:rPr>
              <a:t>  "ood_evidence.source"    &lt;- "real_ood_split"  or  "held_out_benchmark"</a:t>
            </a:r>
          </a:p>
          <a:p>
            <a:r>
              <a:rPr sz="1800" b="0">
                <a:solidFill>
                  <a:srgbClr val="212121"/>
                </a:solidFill>
              </a:rPr>
              <a:t>  "ood_evidence.metrics"   &lt;- AUROC, FPR, SURE score, conformal coverage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Diagnostic files (NOT for deployment decisions)</a:t>
            </a:r>
          </a:p>
          <a:p>
            <a:r>
              <a:rPr sz="1800" b="0">
                <a:solidFill>
                  <a:srgbClr val="212121"/>
                </a:solidFill>
              </a:rPr>
              <a:t>  validation/metric_gate.json  — split-local view of validation pass/fail</a:t>
            </a:r>
          </a:p>
          <a:p>
            <a:r>
              <a:rPr sz="1800" b="0">
                <a:solidFill>
                  <a:srgbClr val="212121"/>
                </a:solidFill>
              </a:rPr>
              <a:t>  test/metric_gate.json        — split-local view of test pass/fail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F9A825"/>
                </a:solidFill>
              </a:rPr>
              <a:t>Always read production_readiness.json. Never use metric_gate.json alone.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OOD Evidence — Real Data vs Automatic Fallback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Best path: real ood/ data (strongly recommended)</a:t>
            </a:r>
          </a:p>
          <a:p>
            <a:r>
              <a:rPr sz="1800" b="0">
                <a:solidFill>
                  <a:srgbClr val="212121"/>
                </a:solidFill>
              </a:rPr>
              <a:t>Place unknown images in  data/&lt;crop&gt;/ood/.</a:t>
            </a:r>
          </a:p>
          <a:p>
            <a:r>
              <a:rPr sz="1800" b="0">
                <a:solidFill>
                  <a:srgbClr val="212121"/>
                </a:solidFill>
              </a:rPr>
              <a:t>Examples: diseases not in the label set, off-crop plants, blurry images.</a:t>
            </a:r>
          </a:p>
          <a:p>
            <a:r>
              <a:rPr sz="1800" b="0">
                <a:solidFill>
                  <a:srgbClr val="212121"/>
                </a:solidFill>
              </a:rPr>
              <a:t>The workflow evaluates OOD detection against these real unknowns.</a:t>
            </a:r>
          </a:p>
          <a:p>
            <a:r>
              <a:rPr sz="1800" b="0">
                <a:solidFill>
                  <a:srgbClr val="212121"/>
                </a:solidFill>
              </a:rPr>
              <a:t>Recorded as: ood_evidence_source = 'real_ood_split'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Automatic fallback: leave-one-class-out benchmark</a:t>
            </a:r>
          </a:p>
          <a:p>
            <a:r>
              <a:rPr sz="1800" b="0">
                <a:solidFill>
                  <a:srgbClr val="212121"/>
                </a:solidFill>
              </a:rPr>
              <a:t>If no ood/ folder exists, AADS automatically runs a held-out benchmark.</a:t>
            </a:r>
          </a:p>
          <a:p>
            <a:r>
              <a:rPr sz="1800" b="0">
                <a:solidFill>
                  <a:srgbClr val="212121"/>
                </a:solidFill>
              </a:rPr>
              <a:t>For 3 classes (a, b, c) it trains 3 fold models:</a:t>
            </a:r>
          </a:p>
          <a:p>
            <a:r>
              <a:rPr sz="1800" b="0">
                <a:solidFill>
                  <a:srgbClr val="212121"/>
                </a:solidFill>
              </a:rPr>
              <a:t>  Fold 1: train on a+b -&gt; treat c as unknown</a:t>
            </a:r>
          </a:p>
          <a:p>
            <a:r>
              <a:rPr sz="1800" b="0">
                <a:solidFill>
                  <a:srgbClr val="212121"/>
                </a:solidFill>
              </a:rPr>
              <a:t>  Fold 2: train on a+c -&gt; treat b as unknown</a:t>
            </a:r>
          </a:p>
          <a:p>
            <a:r>
              <a:rPr sz="1800" b="0">
                <a:solidFill>
                  <a:srgbClr val="212121"/>
                </a:solidFill>
              </a:rPr>
              <a:t>  Fold 3: train on b+c -&gt; treat a as unknown</a:t>
            </a:r>
          </a:p>
          <a:p>
            <a:r>
              <a:rPr sz="1800" b="0">
                <a:solidFill>
                  <a:srgbClr val="212121"/>
                </a:solidFill>
              </a:rPr>
              <a:t>Recorded as: ood_evidence_source = 'held_out_benchmark'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Fallback limitations</a:t>
            </a:r>
          </a:p>
          <a:p>
            <a:r>
              <a:rPr sz="1800" b="0">
                <a:solidFill>
                  <a:srgbClr val="212121"/>
                </a:solidFill>
              </a:rPr>
              <a:t>• Requires &gt;= 3 known classes (readiness fails if fewer).</a:t>
            </a:r>
          </a:p>
          <a:p>
            <a:r>
              <a:rPr sz="1800" b="0">
                <a:solidFill>
                  <a:srgbClr val="212121"/>
                </a:solidFill>
              </a:rPr>
              <a:t>• Expensive: trains N extra fold models (one per class).</a:t>
            </a:r>
          </a:p>
          <a:p>
            <a:r>
              <a:rPr sz="1800" b="0">
                <a:solidFill>
                  <a:srgbClr val="212121"/>
                </a:solidFill>
              </a:rPr>
              <a:t>• Weaker evidence than real OOD data — add a real ood/ pool when possible.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Inference Pipeline — Step by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Entrypoint: src/workflows/inference.py  -&gt;  InferenceWorkflow.predict(...)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2E7D32"/>
                </a:solidFill>
              </a:rPr>
              <a:t>  Step 1   Accept input image</a:t>
            </a:r>
          </a:p>
          <a:p>
            <a:r>
              <a:rPr sz="1800" b="0">
                <a:solidFill>
                  <a:srgbClr val="212121"/>
                </a:solidFill>
              </a:rPr>
              <a:t>           A file path or image tensor is passed to the workflow.</a:t>
            </a:r>
          </a:p>
          <a:p>
            <a:r>
              <a:rPr sz="1800" b="1">
                <a:solidFill>
                  <a:srgbClr val="2E7D32"/>
                </a:solidFill>
              </a:rPr>
              <a:t>  Step 2   Router runs (unless crop_hint supplied)</a:t>
            </a:r>
          </a:p>
          <a:p>
            <a:r>
              <a:rPr sz="1800" b="0">
                <a:solidFill>
                  <a:srgbClr val="212121"/>
                </a:solidFill>
              </a:rPr>
              <a:t>           The router identifies the crop and plant part in the image.</a:t>
            </a:r>
          </a:p>
          <a:p>
            <a:r>
              <a:rPr sz="1800" b="1">
                <a:solidFill>
                  <a:srgbClr val="2E7D32"/>
                </a:solidFill>
              </a:rPr>
              <a:t>  Step 3   Crop adapter loaded</a:t>
            </a:r>
          </a:p>
          <a:p>
            <a:r>
              <a:rPr sz="1800" b="0">
                <a:solidFill>
                  <a:srgbClr val="212121"/>
                </a:solidFill>
              </a:rPr>
              <a:t>           Adapter for the identified crop is loaded (lazy-loaded from disk).</a:t>
            </a:r>
          </a:p>
          <a:p>
            <a:r>
              <a:rPr sz="1800" b="0">
                <a:solidFill>
                  <a:srgbClr val="212121"/>
                </a:solidFill>
              </a:rPr>
              <a:t>           Path: models/adapters/&lt;crop&gt;/continual_sd_lora_adapter/</a:t>
            </a:r>
          </a:p>
          <a:p>
            <a:r>
              <a:rPr sz="1800" b="1">
                <a:solidFill>
                  <a:srgbClr val="2E7D32"/>
                </a:solidFill>
              </a:rPr>
              <a:t>  Step 4   Disease prediction</a:t>
            </a:r>
          </a:p>
          <a:p>
            <a:r>
              <a:rPr sz="1800" b="0">
                <a:solidFill>
                  <a:srgbClr val="212121"/>
                </a:solidFill>
              </a:rPr>
              <a:t>           Image -&gt; DINOv3+LoRA -&gt; feature fusion -&gt; classifier -&gt; label+score.</a:t>
            </a:r>
          </a:p>
          <a:p>
            <a:r>
              <a:rPr sz="1800" b="1">
                <a:solidFill>
                  <a:srgbClr val="2E7D32"/>
                </a:solidFill>
              </a:rPr>
              <a:t>  Step 5   OOD analysis</a:t>
            </a:r>
          </a:p>
          <a:p>
            <a:r>
              <a:rPr sz="1800" b="0">
                <a:solidFill>
                  <a:srgbClr val="212121"/>
                </a:solidFill>
              </a:rPr>
              <a:t>           All OOD detectors score the input against calibrated thresholds.</a:t>
            </a:r>
          </a:p>
          <a:p>
            <a:r>
              <a:rPr sz="1800" b="1">
                <a:solidFill>
                  <a:srgbClr val="2E7D32"/>
                </a:solidFill>
              </a:rPr>
              <a:t>  Step 6   Typed payload returned</a:t>
            </a:r>
          </a:p>
          <a:p>
            <a:r>
              <a:rPr sz="1800" b="0">
                <a:solidFill>
                  <a:srgbClr val="212121"/>
                </a:solidFill>
              </a:rPr>
              <a:t>           Structured JSON: label, confidence, OOD info, router summary block.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The Router — Identifying Crop and Plant Part Before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Why is a router needed?</a:t>
            </a:r>
          </a:p>
          <a:p>
            <a:r>
              <a:rPr sz="1800" b="0">
                <a:solidFill>
                  <a:srgbClr val="212121"/>
                </a:solidFill>
              </a:rPr>
              <a:t>Each crop has different diseases. Before loading an adapter, the system</a:t>
            </a:r>
          </a:p>
          <a:p>
            <a:r>
              <a:rPr sz="1800" b="0">
                <a:solidFill>
                  <a:srgbClr val="212121"/>
                </a:solidFill>
              </a:rPr>
              <a:t>must know WHICH crop is in the image. The router solves this problem.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How the router works — three components</a:t>
            </a:r>
          </a:p>
          <a:p>
            <a:r>
              <a:rPr sz="1800" b="0">
                <a:solidFill>
                  <a:srgbClr val="212121"/>
                </a:solidFill>
              </a:rPr>
              <a:t>  1  Grounding-DINO — detects objects using text queries.</a:t>
            </a:r>
          </a:p>
          <a:p>
            <a:r>
              <a:rPr sz="1800" b="0">
                <a:solidFill>
                  <a:srgbClr val="212121"/>
                </a:solidFill>
              </a:rPr>
              <a:t>     It can locate 'tomato leaf', 'potato stem', 'wheat ear' in an image.</a:t>
            </a:r>
          </a:p>
          <a:p>
            <a:r>
              <a:rPr sz="1800" b="0">
                <a:solidFill>
                  <a:srgbClr val="212121"/>
                </a:solidFill>
              </a:rPr>
              <a:t>  2  SAM3 (Segment Anything Model 3) — extracts precise ROI image patches.</a:t>
            </a:r>
          </a:p>
          <a:p>
            <a:r>
              <a:rPr sz="1800" b="0">
                <a:solidFill>
                  <a:srgbClr val="212121"/>
                </a:solidFill>
              </a:rPr>
              <a:t>     Each patch gives local evidence about what crop and part is present.</a:t>
            </a:r>
          </a:p>
          <a:p>
            <a:r>
              <a:rPr sz="1800" b="0">
                <a:solidFill>
                  <a:srgbClr val="212121"/>
                </a:solidFill>
              </a:rPr>
              <a:t>  3  BioCLIP-2.5 — a biology-specialist image-language model.</a:t>
            </a:r>
          </a:p>
          <a:p>
            <a:r>
              <a:rPr sz="1800" b="0">
                <a:solidFill>
                  <a:srgbClr val="212121"/>
                </a:solidFill>
              </a:rPr>
              <a:t>     Scores each patch against crop/part label candidates.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Conservative part resolution — by design</a:t>
            </a:r>
          </a:p>
          <a:p>
            <a:r>
              <a:rPr sz="1800" b="0">
                <a:solidFill>
                  <a:srgbClr val="212121"/>
                </a:solidFill>
              </a:rPr>
              <a:t>When organ evidence is ambiguous, the router returns part='unknown'</a:t>
            </a:r>
          </a:p>
          <a:p>
            <a:r>
              <a:rPr sz="1800" b="0">
                <a:solidFill>
                  <a:srgbClr val="212121"/>
                </a:solidFill>
              </a:rPr>
              <a:t>rather than forcing a confident but potentially wrong label.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Router failure modes are surfaced explicitly in the response payload</a:t>
            </a:r>
          </a:p>
          <a:p>
            <a:r>
              <a:rPr sz="1800" b="0">
                <a:solidFill>
                  <a:srgbClr val="212121"/>
                </a:solidFill>
              </a:rPr>
              <a:t>  router_unavailable — router failed to initialise or errored</a:t>
            </a:r>
          </a:p>
          <a:p>
            <a:r>
              <a:rPr sz="1800" b="0">
                <a:solidFill>
                  <a:srgbClr val="212121"/>
                </a:solidFill>
              </a:rPr>
              <a:t>  unknown_crop       — image does not match any supported crop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Router Evidence Fusion — Why One Patch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The problem with trusting only one image region</a:t>
            </a:r>
          </a:p>
          <a:p>
            <a:r>
              <a:rPr sz="1800" b="0">
                <a:solidFill>
                  <a:srgbClr val="212121"/>
                </a:solidFill>
              </a:rPr>
              <a:t>A single diseased patch might look like a different crop or even a</a:t>
            </a:r>
          </a:p>
          <a:p>
            <a:r>
              <a:rPr sz="1800" b="0">
                <a:solidFill>
                  <a:srgbClr val="212121"/>
                </a:solidFill>
              </a:rPr>
              <a:t>non-plant object. One misleading patch should not override everything else.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AADS uses two evidence streams</a:t>
            </a:r>
          </a:p>
          <a:p>
            <a:r>
              <a:rPr sz="1800" b="0">
                <a:solidFill>
                  <a:srgbClr val="212121"/>
                </a:solidFill>
              </a:rPr>
              <a:t>  Stream 1 — SAM3 ROI evidence (local patches)</a:t>
            </a:r>
          </a:p>
          <a:p>
            <a:r>
              <a:rPr sz="1800" b="0">
                <a:solidFill>
                  <a:srgbClr val="212121"/>
                </a:solidFill>
              </a:rPr>
              <a:t>    Extract up to 50 patches; score each one for crop and part identity.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0">
                <a:solidFill>
                  <a:srgbClr val="212121"/>
                </a:solidFill>
              </a:rPr>
              <a:t>  Stream 2 — Whole-image crop evidence (global context)</a:t>
            </a:r>
          </a:p>
          <a:p>
            <a:r>
              <a:rPr sz="1800" b="0">
                <a:solidFill>
                  <a:srgbClr val="212121"/>
                </a:solidFill>
              </a:rPr>
              <a:t>    BioCLIP analyses the full image as one unit.</a:t>
            </a:r>
          </a:p>
          <a:p>
            <a:r>
              <a:rPr sz="1800" b="0">
                <a:solidFill>
                  <a:srgbClr val="212121"/>
                </a:solidFill>
              </a:rPr>
              <a:t>    Global context weight = 0.65 (global gets more trust than a single patch).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Fusion policy</a:t>
            </a:r>
          </a:p>
          <a:p>
            <a:r>
              <a:rPr sz="1800" b="0">
                <a:solidFill>
                  <a:srgbClr val="212121"/>
                </a:solidFill>
              </a:rPr>
              <a:t>Final crop decision blends both streams. A misleading single patch</a:t>
            </a:r>
          </a:p>
          <a:p>
            <a:r>
              <a:rPr sz="1800" b="0">
                <a:solidFill>
                  <a:srgbClr val="212121"/>
                </a:solidFill>
              </a:rPr>
              <a:t>cannot override clear global evidence. This follows plant-vision research</a:t>
            </a:r>
          </a:p>
          <a:p>
            <a:r>
              <a:rPr sz="1800" b="0">
                <a:solidFill>
                  <a:srgbClr val="212121"/>
                </a:solidFill>
              </a:rPr>
              <a:t>showing local + global features together outperform either alone.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Lazy loading</a:t>
            </a:r>
          </a:p>
          <a:p>
            <a:r>
              <a:rPr sz="1800" b="0">
                <a:solidFill>
                  <a:srgbClr val="212121"/>
                </a:solidFill>
              </a:rPr>
              <a:t>Adapters are loaded from disk only the first time they are needed,</a:t>
            </a:r>
          </a:p>
          <a:p>
            <a:r>
              <a:rPr sz="1800" b="0">
                <a:solidFill>
                  <a:srgbClr val="212121"/>
                </a:solidFill>
              </a:rPr>
              <a:t>then cached. This avoids reloading the same adapter on every request.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Notebook 0 — Grouped Dataset Preparation (Audit First)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File: colab_notebooks/0_grouped_dataset_preparation.ipynb</a:t>
            </a:r>
          </a:p>
          <a:p>
            <a:r>
              <a:rPr sz="1800" b="0">
                <a:solidFill>
                  <a:srgbClr val="212121"/>
                </a:solidFill>
              </a:rPr>
              <a:t>Purpose: audit a flat class-root dataset BEFORE training starts.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Notebook 0 does, step by step</a:t>
            </a:r>
          </a:p>
          <a:p>
            <a:r>
              <a:rPr sz="1800" b="0">
                <a:solidFill>
                  <a:srgbClr val="212121"/>
                </a:solidFill>
              </a:rPr>
              <a:t>  1. Scans the flat dataset folder.</a:t>
            </a:r>
          </a:p>
          <a:p>
            <a:r>
              <a:rPr sz="1800" b="0">
                <a:solidFill>
                  <a:srgbClr val="212121"/>
                </a:solidFill>
              </a:rPr>
              <a:t>  2. Normalises class names against the plant taxonomy config.</a:t>
            </a:r>
          </a:p>
          <a:p>
            <a:r>
              <a:rPr sz="1800" b="0">
                <a:solidFill>
                  <a:srgbClr val="212121"/>
                </a:solidFill>
              </a:rPr>
              <a:t>  3. Detects exact duplicates using file-hash comparison.</a:t>
            </a:r>
          </a:p>
          <a:p>
            <a:r>
              <a:rPr sz="1800" b="0">
                <a:solidFill>
                  <a:srgbClr val="212121"/>
                </a:solidFill>
              </a:rPr>
              <a:t>  4. Detects near-duplicates using perceptual hashing.</a:t>
            </a:r>
          </a:p>
          <a:p>
            <a:r>
              <a:rPr sz="1800" b="0">
                <a:solidFill>
                  <a:srgbClr val="212121"/>
                </a:solidFill>
              </a:rPr>
              <a:t>  5. Groups visual families using DINOv3 + BioCLIP-2.5 embeddings.</a:t>
            </a:r>
          </a:p>
          <a:p>
            <a:r>
              <a:rPr sz="1800" b="0">
                <a:solidFill>
                  <a:srgbClr val="212121"/>
                </a:solidFill>
              </a:rPr>
              <a:t>  6. Writes a grouped-split manifest and review artifacts (CSV, JSON).</a:t>
            </a:r>
          </a:p>
          <a:p>
            <a:r>
              <a:rPr sz="1800" b="0">
                <a:solidFill>
                  <a:srgbClr val="212121"/>
                </a:solidFill>
              </a:rPr>
              <a:t>  7. Optionally materialises the runtime dataset under</a:t>
            </a:r>
          </a:p>
          <a:p>
            <a:r>
              <a:rPr sz="1800" b="0">
                <a:solidFill>
                  <a:srgbClr val="212121"/>
                </a:solidFill>
              </a:rPr>
              <a:t>     data/prepared_runtime_datasets/&lt;crop&gt;/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When to use Notebook 0</a:t>
            </a:r>
          </a:p>
          <a:p>
            <a:r>
              <a:rPr sz="1800" b="0">
                <a:solidFill>
                  <a:srgbClr val="212121"/>
                </a:solidFill>
              </a:rPr>
              <a:t>• When images came from multiple sources and you suspect duplicates.</a:t>
            </a:r>
          </a:p>
          <a:p>
            <a:r>
              <a:rPr sz="1800" b="0">
                <a:solidFill>
                  <a:srgbClr val="212121"/>
                </a:solidFill>
              </a:rPr>
              <a:t>• When you want to inspect quality and groupings before committing to training.</a:t>
            </a:r>
          </a:p>
          <a:p>
            <a:r>
              <a:rPr sz="1800" b="0">
                <a:solidFill>
                  <a:srgbClr val="212121"/>
                </a:solidFill>
              </a:rPr>
              <a:t>• When you want audit-first control over the dataset split.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F9A825"/>
                </a:solidFill>
              </a:rPr>
              <a:t>Use Notebook 0 BEFORE Notebook 2 when data provenance is uncertain.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Notebook 2 — Interactive Adapter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File: colab_notebooks/2_interactive_adapter_training.ipynb</a:t>
            </a:r>
          </a:p>
          <a:p>
            <a:r>
              <a:rPr sz="1800" b="0">
                <a:solidFill>
                  <a:srgbClr val="212121"/>
                </a:solidFill>
              </a:rPr>
              <a:t>Purpose: end-to-end training from flat dataset to exported adapter.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Two modes</a:t>
            </a:r>
          </a:p>
          <a:p>
            <a:r>
              <a:rPr sz="1800" b="0">
                <a:solidFill>
                  <a:srgbClr val="212121"/>
                </a:solidFill>
              </a:rPr>
              <a:t>  DATASET_LAYOUT_MODE = 'class_root'   (start from a flat dataset)</a:t>
            </a:r>
          </a:p>
          <a:p>
            <a:r>
              <a:rPr sz="1800" b="0">
                <a:solidFill>
                  <a:srgbClr val="212121"/>
                </a:solidFill>
              </a:rPr>
              <a:t>    Runs grouped prep -&gt; materialises runtime dataset -&gt; trains -&gt; evaluates.</a:t>
            </a:r>
          </a:p>
          <a:p>
            <a:r>
              <a:rPr sz="1800" b="0">
                <a:solidFill>
                  <a:srgbClr val="212121"/>
                </a:solidFill>
              </a:rPr>
              <a:t>  DATASET_LAYOUT_MODE = 'runtime'       (already have the split layout)</a:t>
            </a:r>
          </a:p>
          <a:p>
            <a:r>
              <a:rPr sz="1800" b="0">
                <a:solidFill>
                  <a:srgbClr val="212121"/>
                </a:solidFill>
              </a:rPr>
              <a:t>    Skips prep -&gt; trains directly from the prepared runtime dataset.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the notebook writes</a:t>
            </a:r>
          </a:p>
          <a:p>
            <a:r>
              <a:rPr sz="1800" b="0">
                <a:solidFill>
                  <a:srgbClr val="212121"/>
                </a:solidFill>
              </a:rPr>
              <a:t>  • Local outputs: outputs/colab_notebook_training/</a:t>
            </a:r>
          </a:p>
          <a:p>
            <a:r>
              <a:rPr sz="1800" b="0">
                <a:solidFill>
                  <a:srgbClr val="212121"/>
                </a:solidFill>
              </a:rPr>
              <a:t>  • Repo mirror:   runs/&lt;RUN_ID&gt;/</a:t>
            </a:r>
          </a:p>
          <a:p>
            <a:r>
              <a:rPr sz="1800" b="0">
                <a:solidFill>
                  <a:srgbClr val="212121"/>
                </a:solidFill>
              </a:rPr>
              <a:t>  • Drive telemetry: &lt;AADS_DRIVE_LOG_ROOT&gt;/telemetry/&lt;RUN_ID&gt;/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Key requirements before running</a:t>
            </a:r>
          </a:p>
          <a:p>
            <a:r>
              <a:rPr sz="1800" b="0">
                <a:solidFill>
                  <a:srgbClr val="212121"/>
                </a:solidFill>
              </a:rPr>
              <a:t>  • GPU runtime in Colab (CUDA is required by default).</a:t>
            </a:r>
          </a:p>
          <a:p>
            <a:r>
              <a:rPr sz="1800" b="0">
                <a:solidFill>
                  <a:srgbClr val="212121"/>
                </a:solidFill>
              </a:rPr>
              <a:t>  • Hugging Face token (downloads DINOv3, BioCLIP-2.5, SAM3).</a:t>
            </a:r>
          </a:p>
          <a:p>
            <a:r>
              <a:rPr sz="1800" b="0">
                <a:solidFill>
                  <a:srgbClr val="212121"/>
                </a:solidFill>
              </a:rPr>
              <a:t>  • Flat class-root dataset already prepared and validated.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600" b="0">
                <a:solidFill>
                  <a:srgbClr val="555555"/>
                </a:solidFill>
              </a:rPr>
              <a:t>Optional: auto-push run record to GitHub and auto-disconnect after export.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Notebook 1 — Router-Only Diagnostics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File: colab_notebooks/1_router_adapter_inference.ipynb</a:t>
            </a:r>
          </a:p>
          <a:p>
            <a:r>
              <a:rPr sz="1800" b="0">
                <a:solidFill>
                  <a:srgbClr val="212121"/>
                </a:solidFill>
              </a:rPr>
              <a:t>Purpose: test the router without loading any disease adapter.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it does</a:t>
            </a:r>
          </a:p>
          <a:p>
            <a:r>
              <a:rPr sz="1800" b="0">
                <a:solidFill>
                  <a:srgbClr val="212121"/>
                </a:solidFill>
              </a:rPr>
              <a:t>  1. Loads the router (Grounding-DINO + SAM3 + BioCLIP).</a:t>
            </a:r>
          </a:p>
          <a:p>
            <a:r>
              <a:rPr sz="1800" b="0">
                <a:solidFill>
                  <a:srgbClr val="212121"/>
                </a:solidFill>
              </a:rPr>
              <a:t>  2. Analyses the input image.</a:t>
            </a:r>
          </a:p>
          <a:p>
            <a:r>
              <a:rPr sz="1800" b="0">
                <a:solidFill>
                  <a:srgbClr val="212121"/>
                </a:solidFill>
              </a:rPr>
              <a:t>  3. Returns: crop identification + plant part identification.</a:t>
            </a:r>
          </a:p>
          <a:p>
            <a:r>
              <a:rPr sz="1800" b="0">
                <a:solidFill>
                  <a:srgbClr val="212121"/>
                </a:solidFill>
              </a:rPr>
              <a:t>  4. STOPS HERE — does NOT predict a disease label.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When to use Notebook 1</a:t>
            </a:r>
          </a:p>
          <a:p>
            <a:r>
              <a:rPr sz="1800" b="0">
                <a:solidFill>
                  <a:srgbClr val="212121"/>
                </a:solidFill>
              </a:rPr>
              <a:t>• To check whether the router correctly identifies the crop in your images.</a:t>
            </a:r>
          </a:p>
          <a:p>
            <a:r>
              <a:rPr sz="1800" b="0">
                <a:solidFill>
                  <a:srgbClr val="212121"/>
                </a:solidFill>
              </a:rPr>
              <a:t>• To debug router misidentifications before investigating the adapter itself.</a:t>
            </a:r>
          </a:p>
          <a:p>
            <a:r>
              <a:rPr sz="1800" b="0">
                <a:solidFill>
                  <a:srgbClr val="212121"/>
                </a:solidFill>
              </a:rPr>
              <a:t>• To test router behaviour on ambiguous or unusual images.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Important response behaviours</a:t>
            </a:r>
          </a:p>
          <a:p>
            <a:r>
              <a:rPr sz="1800" b="0">
                <a:solidFill>
                  <a:srgbClr val="212121"/>
                </a:solidFill>
              </a:rPr>
              <a:t>  • Unknown crop:           status = 'unknown_crop'</a:t>
            </a:r>
          </a:p>
          <a:p>
            <a:r>
              <a:rPr sz="1800" b="0">
                <a:solidFill>
                  <a:srgbClr val="212121"/>
                </a:solidFill>
              </a:rPr>
              <a:t>  • Router fails:           status = 'router_unavailable'</a:t>
            </a:r>
          </a:p>
          <a:p>
            <a:r>
              <a:rPr sz="1800" b="0">
                <a:solidFill>
                  <a:srgbClr val="212121"/>
                </a:solidFill>
              </a:rPr>
              <a:t>  • Ambiguous organ:        part   = 'unknown' (not a forced guess)</a:t>
            </a:r>
          </a:p>
          <a:p>
            <a:r>
              <a:rPr sz="1800" b="0">
                <a:solidFill>
                  <a:srgbClr val="212121"/>
                </a:solidFill>
              </a:rPr>
              <a:t>  • crop_hint supplied:     router skipped; payload shows status = 'skipped'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F9A825"/>
                </a:solidFill>
              </a:rPr>
              <a:t>Notebook 1 stops at the router. For full disease prediction use Notebook 2 + 3.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Notebook 3 — Adapter Smoke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File: colab_notebooks/3_adapter_smoke_test.ipynb</a:t>
            </a:r>
          </a:p>
          <a:p>
            <a:r>
              <a:rPr sz="1800" b="0">
                <a:solidFill>
                  <a:srgbClr val="212121"/>
                </a:solidFill>
              </a:rPr>
              <a:t>Script: scripts/colab_adapter_smoke_test.py</a:t>
            </a:r>
          </a:p>
          <a:p>
            <a:r>
              <a:rPr sz="1800" b="0">
                <a:solidFill>
                  <a:srgbClr val="212121"/>
                </a:solidFill>
              </a:rPr>
              <a:t>Purpose: verify that an already exported adapter still works correctly.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'smoke test' means</a:t>
            </a:r>
          </a:p>
          <a:p>
            <a:r>
              <a:rPr sz="1800" b="0">
                <a:solidFill>
                  <a:srgbClr val="212121"/>
                </a:solidFill>
              </a:rPr>
              <a:t>A smoke test is a quick sanity check: does the adapter load without errors?</a:t>
            </a:r>
          </a:p>
          <a:p>
            <a:r>
              <a:rPr sz="1800" b="0">
                <a:solidFill>
                  <a:srgbClr val="212121"/>
                </a:solidFill>
              </a:rPr>
              <a:t>Does it produce predictions? Does it not crash?</a:t>
            </a:r>
          </a:p>
          <a:p>
            <a:r>
              <a:rPr sz="1800" b="0">
                <a:solidFill>
                  <a:srgbClr val="212121"/>
                </a:solidFill>
              </a:rPr>
              <a:t>It is NOT a rigorous accuracy benchmark — that was done during training.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What it does</a:t>
            </a:r>
          </a:p>
          <a:p>
            <a:r>
              <a:rPr sz="1800" b="0">
                <a:solidFill>
                  <a:srgbClr val="212121"/>
                </a:solidFill>
              </a:rPr>
              <a:t>  1. Loads one adapter directly from its bundle folder on disk.</a:t>
            </a:r>
          </a:p>
          <a:p>
            <a:r>
              <a:rPr sz="1800" b="0">
                <a:solidFill>
                  <a:srgbClr val="212121"/>
                </a:solidFill>
              </a:rPr>
              <a:t>  2. Skips the router completely.</a:t>
            </a:r>
          </a:p>
          <a:p>
            <a:r>
              <a:rPr sz="1800" b="0">
                <a:solidFill>
                  <a:srgbClr val="212121"/>
                </a:solidFill>
              </a:rPr>
              <a:t>  3. Accepts one or more test images.</a:t>
            </a:r>
          </a:p>
          <a:p>
            <a:r>
              <a:rPr sz="1800" b="0">
                <a:solidFill>
                  <a:srgbClr val="212121"/>
                </a:solidFill>
              </a:rPr>
              <a:t>  4. Returns predictions with confidence scores and OOD analysis.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When to use Notebook 3</a:t>
            </a:r>
          </a:p>
          <a:p>
            <a:r>
              <a:rPr sz="1800" b="0">
                <a:solidFill>
                  <a:srgbClr val="212121"/>
                </a:solidFill>
              </a:rPr>
              <a:t>• After copying an adapter to a new machine — confirm it still works.</a:t>
            </a:r>
          </a:p>
          <a:p>
            <a:r>
              <a:rPr sz="1800" b="0">
                <a:solidFill>
                  <a:srgbClr val="212121"/>
                </a:solidFill>
              </a:rPr>
              <a:t>• After a repository update — confirm the adapter API is still compatible.</a:t>
            </a:r>
          </a:p>
          <a:p>
            <a:r>
              <a:rPr sz="1800" b="0">
                <a:solidFill>
                  <a:srgbClr val="212121"/>
                </a:solidFill>
              </a:rPr>
              <a:t>• When you want a quick prediction without running the full inference stack.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700" b="1">
                <a:solidFill>
                  <a:srgbClr val="2E7D32"/>
                </a:solidFill>
              </a:rPr>
              <a:t>Notebook 3 is the fastest way to answer: 'does this saved adapter still work?'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Repository Layout — What Each Folder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55778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Tracked source code</a:t>
            </a:r>
          </a:p>
          <a:p>
            <a:r>
              <a:rPr sz="1700" b="1">
                <a:solidFill>
                  <a:srgbClr val="2E7D32"/>
                </a:solidFill>
              </a:rPr>
              <a:t>src/workflows/</a:t>
            </a:r>
          </a:p>
          <a:p>
            <a:r>
              <a:rPr sz="1800" b="0">
                <a:solidFill>
                  <a:srgbClr val="212121"/>
                </a:solidFill>
              </a:rPr>
              <a:t>  Training &amp; inference facades (canonical entrypoints)</a:t>
            </a:r>
          </a:p>
          <a:p>
            <a:r>
              <a:rPr sz="1700" b="1">
                <a:solidFill>
                  <a:srgbClr val="2E7D32"/>
                </a:solidFill>
              </a:rPr>
              <a:t>src/training/</a:t>
            </a:r>
          </a:p>
          <a:p>
            <a:r>
              <a:rPr sz="1800" b="0">
                <a:solidFill>
                  <a:srgbClr val="212121"/>
                </a:solidFill>
              </a:rPr>
              <a:t>  Training engine, OOD calibration, evaluation, artifacts</a:t>
            </a:r>
          </a:p>
          <a:p>
            <a:r>
              <a:rPr sz="1700" b="1">
                <a:solidFill>
                  <a:srgbClr val="2E7D32"/>
                </a:solidFill>
              </a:rPr>
              <a:t>src/pipeline/ + router/</a:t>
            </a:r>
          </a:p>
          <a:p>
            <a:r>
              <a:rPr sz="1800" b="0">
                <a:solidFill>
                  <a:srgbClr val="212121"/>
                </a:solidFill>
              </a:rPr>
              <a:t>  Router-driven inference runtime and VLM pipeline</a:t>
            </a:r>
          </a:p>
          <a:p>
            <a:r>
              <a:rPr sz="1700" b="1">
                <a:solidFill>
                  <a:srgbClr val="2E7D32"/>
                </a:solidFill>
              </a:rPr>
              <a:t>src/ood/</a:t>
            </a:r>
          </a:p>
          <a:p>
            <a:r>
              <a:rPr sz="1800" b="0">
                <a:solidFill>
                  <a:srgbClr val="212121"/>
                </a:solidFill>
              </a:rPr>
              <a:t>  OOD detectors: SURE+, conformal, kNN, energy, radial</a:t>
            </a:r>
          </a:p>
          <a:p>
            <a:r>
              <a:rPr sz="1700" b="1">
                <a:solidFill>
                  <a:srgbClr val="2E7D32"/>
                </a:solidFill>
              </a:rPr>
              <a:t>src/adapter/</a:t>
            </a:r>
          </a:p>
          <a:p>
            <a:r>
              <a:rPr sz="1800" b="0">
                <a:solidFill>
                  <a:srgbClr val="212121"/>
                </a:solidFill>
              </a:rPr>
              <a:t>  IndependentCropAdapter public lifecycle</a:t>
            </a:r>
          </a:p>
          <a:p>
            <a:r>
              <a:rPr sz="1700" b="1">
                <a:solidFill>
                  <a:srgbClr val="2E7D32"/>
                </a:solidFill>
              </a:rPr>
              <a:t>src/core/</a:t>
            </a:r>
          </a:p>
          <a:p>
            <a:r>
              <a:rPr sz="1800" b="0">
                <a:solidFill>
                  <a:srgbClr val="212121"/>
                </a:solidFill>
              </a:rPr>
              <a:t>  ConfigurationManager, config migrations</a:t>
            </a:r>
          </a:p>
          <a:p>
            <a:r>
              <a:rPr sz="1700" b="1">
                <a:solidFill>
                  <a:srgbClr val="2E7D32"/>
                </a:solidFill>
              </a:rPr>
              <a:t>config/</a:t>
            </a:r>
          </a:p>
          <a:p>
            <a:r>
              <a:rPr sz="1800" b="0">
                <a:solidFill>
                  <a:srgbClr val="212121"/>
                </a:solidFill>
              </a:rPr>
              <a:t>  base.json, colab.json, plant_taxonomy.json</a:t>
            </a:r>
          </a:p>
          <a:p>
            <a:r>
              <a:rPr sz="1700" b="1">
                <a:solidFill>
                  <a:srgbClr val="2E7D32"/>
                </a:solidFill>
              </a:rPr>
              <a:t>tests/</a:t>
            </a:r>
          </a:p>
          <a:p>
            <a:r>
              <a:rPr sz="1800" b="0">
                <a:solidFill>
                  <a:srgbClr val="212121"/>
                </a:solidFill>
              </a:rPr>
              <a:t>  unit/, integration/, colab/ test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188720"/>
            <a:ext cx="36576" cy="52578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3056" y="1115568"/>
            <a:ext cx="5687568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Tracked docs &amp; notebooks</a:t>
            </a:r>
          </a:p>
          <a:p>
            <a:r>
              <a:rPr sz="1700" b="1">
                <a:solidFill>
                  <a:srgbClr val="2E7D32"/>
                </a:solidFill>
              </a:rPr>
              <a:t>docs/</a:t>
            </a:r>
          </a:p>
          <a:p>
            <a:r>
              <a:rPr sz="1800" b="0">
                <a:solidFill>
                  <a:srgbClr val="212121"/>
                </a:solidFill>
              </a:rPr>
              <a:t>  Architecture overview + user guides</a:t>
            </a:r>
          </a:p>
          <a:p>
            <a:r>
              <a:rPr sz="1700" b="1">
                <a:solidFill>
                  <a:srgbClr val="2E7D32"/>
                </a:solidFill>
              </a:rPr>
              <a:t>colab_notebooks/</a:t>
            </a:r>
          </a:p>
          <a:p>
            <a:r>
              <a:rPr sz="1800" b="0">
                <a:solidFill>
                  <a:srgbClr val="212121"/>
                </a:solidFill>
              </a:rPr>
              <a:t>  Notebooks 0, 1, 2, 3 (all tracked as source)</a:t>
            </a:r>
          </a:p>
          <a:p>
            <a:r>
              <a:rPr sz="1700" b="1">
                <a:solidFill>
                  <a:srgbClr val="2E7D32"/>
                </a:solidFill>
              </a:rPr>
              <a:t>scripts/</a:t>
            </a:r>
          </a:p>
          <a:p>
            <a:r>
              <a:rPr sz="1800" b="0">
                <a:solidFill>
                  <a:srgbClr val="212121"/>
                </a:solidFill>
              </a:rPr>
              <a:t>  Validation tools and Colab helper scripts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Local / generated (NOT tracked in git)</a:t>
            </a:r>
          </a:p>
          <a:p>
            <a:r>
              <a:rPr sz="1700" b="0">
                <a:solidFill>
                  <a:srgbClr val="555555"/>
                </a:solidFill>
              </a:rPr>
              <a:t>runs/&lt;RUN_ID&gt;/</a:t>
            </a:r>
          </a:p>
          <a:p>
            <a:r>
              <a:rPr sz="1800" b="0">
                <a:solidFill>
                  <a:srgbClr val="212121"/>
                </a:solidFill>
              </a:rPr>
              <a:t>  Notebook run records and mirrored outputs</a:t>
            </a:r>
          </a:p>
          <a:p>
            <a:r>
              <a:rPr sz="1700" b="0">
                <a:solidFill>
                  <a:srgbClr val="555555"/>
                </a:solidFill>
              </a:rPr>
              <a:t>models/adapters/</a:t>
            </a:r>
          </a:p>
          <a:p>
            <a:r>
              <a:rPr sz="1800" b="0">
                <a:solidFill>
                  <a:srgbClr val="212121"/>
                </a:solidFill>
              </a:rPr>
              <a:t>  Exported crop adapter bundles</a:t>
            </a:r>
          </a:p>
          <a:p>
            <a:r>
              <a:rPr sz="1700" b="0">
                <a:solidFill>
                  <a:srgbClr val="555555"/>
                </a:solidFill>
              </a:rPr>
              <a:t>outputs/</a:t>
            </a:r>
          </a:p>
          <a:p>
            <a:r>
              <a:rPr sz="1800" b="0">
                <a:solidFill>
                  <a:srgbClr val="212121"/>
                </a:solidFill>
              </a:rPr>
              <a:t>  Training output files and logs</a:t>
            </a:r>
          </a:p>
          <a:p>
            <a:r>
              <a:rPr sz="1700" b="0">
                <a:solidFill>
                  <a:srgbClr val="555555"/>
                </a:solidFill>
              </a:rPr>
              <a:t>.runtime_tmp/</a:t>
            </a:r>
          </a:p>
          <a:p>
            <a:r>
              <a:rPr sz="1800" b="0">
                <a:solidFill>
                  <a:srgbClr val="212121"/>
                </a:solidFill>
              </a:rPr>
              <a:t>  Caches and temporary runtime files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800" b="1">
                <a:solidFill>
                  <a:srgbClr val="F9A825"/>
                </a:solidFill>
              </a:rPr>
              <a:t>Never edit generated outputs as if they were tracked source.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Technology Stack — What Each Library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55778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Core ML libraries</a:t>
            </a:r>
          </a:p>
          <a:p>
            <a:r>
              <a:rPr sz="1700" b="1">
                <a:solidFill>
                  <a:srgbClr val="2E7D32"/>
                </a:solidFill>
              </a:rPr>
              <a:t>Python 3.11</a:t>
            </a:r>
          </a:p>
          <a:p>
            <a:r>
              <a:rPr sz="1800" b="0">
                <a:solidFill>
                  <a:srgbClr val="212121"/>
                </a:solidFill>
              </a:rPr>
              <a:t>  Programming language the whole repo is written in.</a:t>
            </a:r>
          </a:p>
          <a:p>
            <a:r>
              <a:rPr sz="1700" b="1">
                <a:solidFill>
                  <a:srgbClr val="2E7D32"/>
                </a:solidFill>
              </a:rPr>
              <a:t>PyTorch 2.10</a:t>
            </a:r>
          </a:p>
          <a:p>
            <a:r>
              <a:rPr sz="1800" b="0">
                <a:solidFill>
                  <a:srgbClr val="212121"/>
                </a:solidFill>
              </a:rPr>
              <a:t>  Deep learning engine: manages tensors, gradients, GPU.</a:t>
            </a:r>
          </a:p>
          <a:p>
            <a:r>
              <a:rPr sz="1700" b="1">
                <a:solidFill>
                  <a:srgbClr val="2E7D32"/>
                </a:solidFill>
              </a:rPr>
              <a:t>torchvision 0.25</a:t>
            </a:r>
          </a:p>
          <a:p>
            <a:r>
              <a:rPr sz="1800" b="0">
                <a:solidFill>
                  <a:srgbClr val="212121"/>
                </a:solidFill>
              </a:rPr>
              <a:t>  Image transforms and pre-processing utilities.</a:t>
            </a:r>
          </a:p>
          <a:p>
            <a:r>
              <a:rPr sz="1700" b="1">
                <a:solidFill>
                  <a:srgbClr val="2E7D32"/>
                </a:solidFill>
              </a:rPr>
              <a:t>Transformers 5.1</a:t>
            </a:r>
          </a:p>
          <a:p>
            <a:r>
              <a:rPr sz="1800" b="0">
                <a:solidFill>
                  <a:srgbClr val="212121"/>
                </a:solidFill>
              </a:rPr>
              <a:t>  Loads DINOv3 weights from Hugging Face.</a:t>
            </a:r>
          </a:p>
          <a:p>
            <a:r>
              <a:rPr sz="1700" b="1">
                <a:solidFill>
                  <a:srgbClr val="2E7D32"/>
                </a:solidFill>
              </a:rPr>
              <a:t>PEFT 0.18</a:t>
            </a:r>
          </a:p>
          <a:p>
            <a:r>
              <a:rPr sz="1800" b="0">
                <a:solidFill>
                  <a:srgbClr val="212121"/>
                </a:solidFill>
              </a:rPr>
              <a:t>  Manages LoRA adapters: insert, freeze, save, load.</a:t>
            </a:r>
          </a:p>
          <a:p>
            <a:r>
              <a:rPr sz="1700" b="1">
                <a:solidFill>
                  <a:srgbClr val="2E7D32"/>
                </a:solidFill>
              </a:rPr>
              <a:t>Accelerate 1.13</a:t>
            </a:r>
          </a:p>
          <a:p>
            <a:r>
              <a:rPr sz="1800" b="0">
                <a:solidFill>
                  <a:srgbClr val="212121"/>
                </a:solidFill>
              </a:rPr>
              <a:t>  Mixed-precision training and gradient optimisation.</a:t>
            </a:r>
          </a:p>
          <a:p>
            <a:r>
              <a:rPr sz="1700" b="1">
                <a:solidFill>
                  <a:srgbClr val="2E7D32"/>
                </a:solidFill>
              </a:rPr>
              <a:t>Hugging Face Hub 1.4</a:t>
            </a:r>
          </a:p>
          <a:p>
            <a:r>
              <a:rPr sz="1800" b="0">
                <a:solidFill>
                  <a:srgbClr val="212121"/>
                </a:solidFill>
              </a:rPr>
              <a:t>  Downloads model weights; handles authentication tokens.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188720"/>
            <a:ext cx="36576" cy="52578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3056" y="1115568"/>
            <a:ext cx="5687568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Router &amp; OOD libraries</a:t>
            </a:r>
          </a:p>
          <a:p>
            <a:r>
              <a:rPr sz="1700" b="1">
                <a:solidFill>
                  <a:srgbClr val="2E7D32"/>
                </a:solidFill>
              </a:rPr>
              <a:t>open-clip-torch 3.2</a:t>
            </a:r>
          </a:p>
          <a:p>
            <a:r>
              <a:rPr sz="1800" b="0">
                <a:solidFill>
                  <a:srgbClr val="212121"/>
                </a:solidFill>
              </a:rPr>
              <a:t>  BioCLIP-2.5 — biology-specialist image-text model.</a:t>
            </a:r>
          </a:p>
          <a:p>
            <a:r>
              <a:rPr sz="1800" b="0">
                <a:solidFill>
                  <a:srgbClr val="212121"/>
                </a:solidFill>
              </a:rPr>
              <a:t>  Used for near-duplicate grouping and router part scoring.</a:t>
            </a:r>
          </a:p>
          <a:p>
            <a:r>
              <a:rPr sz="1700" b="1">
                <a:solidFill>
                  <a:srgbClr val="2E7D32"/>
                </a:solidFill>
              </a:rPr>
              <a:t>Ultralytics 8.4</a:t>
            </a:r>
          </a:p>
          <a:p>
            <a:r>
              <a:rPr sz="1800" b="0">
                <a:solidFill>
                  <a:srgbClr val="212121"/>
                </a:solidFill>
              </a:rPr>
              <a:t>  SAM3 — Segment Anything Model for ROI extraction.</a:t>
            </a:r>
          </a:p>
          <a:p>
            <a:r>
              <a:rPr sz="1700" b="1">
                <a:solidFill>
                  <a:srgbClr val="2E7D32"/>
                </a:solidFill>
              </a:rPr>
              <a:t>FAISS (optional)</a:t>
            </a:r>
          </a:p>
          <a:p>
            <a:r>
              <a:rPr sz="1800" b="0">
                <a:solidFill>
                  <a:srgbClr val="212121"/>
                </a:solidFill>
              </a:rPr>
              <a:t>  Fast kNN search over large OOD feature banks.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Infrastructure &amp; testing</a:t>
            </a:r>
          </a:p>
          <a:p>
            <a:r>
              <a:rPr sz="1700" b="1">
                <a:solidFill>
                  <a:srgbClr val="2E7D32"/>
                </a:solidFill>
              </a:rPr>
              <a:t>Google Colab</a:t>
            </a:r>
          </a:p>
          <a:p>
            <a:r>
              <a:rPr sz="1800" b="0">
                <a:solidFill>
                  <a:srgbClr val="212121"/>
                </a:solidFill>
              </a:rPr>
              <a:t>  Hosted GPU environment for running training notebooks.</a:t>
            </a:r>
          </a:p>
          <a:p>
            <a:r>
              <a:rPr sz="1700" b="1">
                <a:solidFill>
                  <a:srgbClr val="2E7D32"/>
                </a:solidFill>
              </a:rPr>
              <a:t>pytest</a:t>
            </a:r>
          </a:p>
          <a:p>
            <a:r>
              <a:rPr sz="1800" b="0">
                <a:solidFill>
                  <a:srgbClr val="212121"/>
                </a:solidFill>
              </a:rPr>
              <a:t>  Unit, integration, and smoke tests.</a:t>
            </a:r>
          </a:p>
          <a:p>
            <a:r>
              <a:rPr sz="1800" b="0">
                <a:solidFill>
                  <a:srgbClr val="212121"/>
                </a:solidFill>
              </a:rPr>
              <a:t>  Run: pytest tests/unit -q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600" b="0">
                <a:solidFill>
                  <a:srgbClr val="555555"/>
                </a:solidFill>
              </a:rPr>
              <a:t>No GPU needed for validation scripts or unit tests.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"/>
            <a:ext cx="11704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</a:rPr>
              <a:t>Getting Started — Step by Step (Windows PowerShell)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1521440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E7D32"/>
                </a:solidFill>
              </a:rPr>
              <a:t>1. Set up the Python environment</a:t>
            </a:r>
          </a:p>
          <a:p>
            <a:r>
              <a:rPr sz="1800" b="0">
                <a:solidFill>
                  <a:srgbClr val="212121"/>
                </a:solidFill>
              </a:rPr>
              <a:t>   .\scripts\python.cmd -m venv .venv</a:t>
            </a:r>
          </a:p>
          <a:p>
            <a:r>
              <a:rPr sz="1800" b="0">
                <a:solidFill>
                  <a:srgbClr val="212121"/>
                </a:solidFill>
              </a:rPr>
              <a:t>   .\scripts\python.cmd -m pip install -r requirements.txt</a:t>
            </a:r>
          </a:p>
          <a:p>
            <a:r>
              <a:rPr sz="1800" b="0">
                <a:solidFill>
                  <a:srgbClr val="212121"/>
                </a:solidFill>
              </a:rPr>
              <a:t>   .\scripts\python.cmd -m pip install -r requirements-dev.txt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2. Validate the installation</a:t>
            </a:r>
          </a:p>
          <a:p>
            <a:r>
              <a:rPr sz="1800" b="0">
                <a:solidFill>
                  <a:srgbClr val="212121"/>
                </a:solidFill>
              </a:rPr>
              <a:t>   .\scripts\python.cmd scripts/validate_config_schema.py</a:t>
            </a:r>
          </a:p>
          <a:p>
            <a:r>
              <a:rPr sz="1800" b="0">
                <a:solidFill>
                  <a:srgbClr val="212121"/>
                </a:solidFill>
              </a:rPr>
              <a:t>   pytest tests/unit -q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3. Prepare a dataset — choose one path</a:t>
            </a:r>
          </a:p>
          <a:p>
            <a:r>
              <a:rPr sz="1800" b="0">
                <a:solidFill>
                  <a:srgbClr val="212121"/>
                </a:solidFill>
              </a:rPr>
              <a:t>   Path A — Notebook 0 (audit) then Notebook 2 (train). Recommended.</a:t>
            </a:r>
          </a:p>
          <a:p>
            <a:r>
              <a:rPr sz="1800" b="0">
                <a:solidFill>
                  <a:srgbClr val="212121"/>
                </a:solidFill>
              </a:rPr>
              <a:t>   Path B — Notebook 2 class_root mode for a single-step flow.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4. Train from the CLI (if runtime dataset is already ready)</a:t>
            </a:r>
          </a:p>
          <a:p>
            <a:r>
              <a:rPr sz="1800" b="0">
                <a:solidFill>
                  <a:srgbClr val="212121"/>
                </a:solidFill>
              </a:rPr>
              <a:t>   .\scripts\python.cmd -m src.app.cli training tomato data\datasets outputs\run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5. Run inference on a new image</a:t>
            </a:r>
          </a:p>
          <a:p>
            <a:r>
              <a:rPr sz="1800" b="0">
                <a:solidFill>
                  <a:srgbClr val="212121"/>
                </a:solidFill>
              </a:rPr>
              <a:t>   .\scripts\python.cmd -m src.app.cli inference path\to\image.jpg</a:t>
            </a:r>
          </a:p>
          <a:p>
            <a:r>
              <a:rPr sz="700" b="0">
                <a:solidFill>
                  <a:srgbClr val="F1F8E9"/>
                </a:solidFill>
              </a:rPr>
              <a:t/>
            </a:r>
          </a:p>
          <a:p>
            <a:r>
              <a:rPr sz="1900" b="1">
                <a:solidFill>
                  <a:srgbClr val="2E7D32"/>
                </a:solidFill>
              </a:rPr>
              <a:t>Recommended reading order</a:t>
            </a:r>
          </a:p>
          <a:p>
            <a:r>
              <a:rPr sz="1800" b="0">
                <a:solidFill>
                  <a:srgbClr val="212121"/>
                </a:solidFill>
              </a:rPr>
              <a:t>   README.md -&gt; docs/README.md -&gt; colab_training_manual.md -&gt; ood_readiness_guide.md -&gt; overview.md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A5D6A7"/>
                </a:solidFill>
              </a:rPr>
              <a:t>AADS v6 is a plant-disease training &amp; inference system built around one idea:</a:t>
            </a:r>
          </a:p>
          <a:p>
            <a:r>
              <a:rPr sz="2200" b="1">
                <a:solidFill>
                  <a:srgbClr val="FFFFFF"/>
                </a:solidFill>
              </a:rPr>
              <a:t>  Train one crop-specific LoRA adapter  →  evaluate OOD safety  →  deploy.</a:t>
            </a:r>
          </a:p>
          <a:p>
            <a:r>
              <a:rPr sz="900" b="0">
                <a:solidFill>
                  <a:srgbClr val="1B5E20"/>
                </a:solidFill>
              </a:rPr>
              <a:t/>
            </a:r>
          </a:p>
          <a:p>
            <a:r>
              <a:rPr sz="1800" b="0">
                <a:solidFill>
                  <a:srgbClr val="A5D6A7"/>
                </a:solidFill>
              </a:rPr>
              <a:t>The three pillars:</a:t>
            </a:r>
          </a:p>
          <a:p>
            <a:r>
              <a:rPr sz="1800" b="0">
                <a:solidFill>
                  <a:srgbClr val="FFFFFF"/>
                </a:solidFill>
              </a:rPr>
              <a:t>  1.  Continual SD-LoRA training on a frozen DINOv3 backbone.</a:t>
            </a:r>
          </a:p>
          <a:p>
            <a:r>
              <a:rPr sz="1800" b="0">
                <a:solidFill>
                  <a:srgbClr val="FFFFFF"/>
                </a:solidFill>
              </a:rPr>
              <a:t>  2.  Router-driven inference (SAM3 ROI + whole-image evidence fusion).</a:t>
            </a:r>
          </a:p>
          <a:p>
            <a:r>
              <a:rPr sz="1800" b="0">
                <a:solidFill>
                  <a:srgbClr val="FFFFFF"/>
                </a:solidFill>
              </a:rPr>
              <a:t>  3.  OOD readiness — production_readiness.json is the final verdict.</a:t>
            </a:r>
          </a:p>
          <a:p>
            <a:r>
              <a:rPr sz="900" b="0">
                <a:solidFill>
                  <a:srgbClr val="1B5E20"/>
                </a:solidFill>
              </a:rPr>
              <a:t/>
            </a:r>
          </a:p>
          <a:p>
            <a:r>
              <a:rPr sz="1700" b="0">
                <a:solidFill>
                  <a:srgbClr val="A5D6A7"/>
                </a:solidFill>
              </a:rPr>
              <a:t>Notebooks 0 / 2 / 3 wrap the same canonical workflows — nothing hidden.</a:t>
            </a:r>
          </a:p>
          <a:p>
            <a:r>
              <a:rPr sz="1700" b="0">
                <a:solidFill>
                  <a:srgbClr val="A5D6A7"/>
                </a:solidFill>
              </a:rPr>
              <a:t>Config, code, tests, and docs are all tracked; generated outputs are local.</a:t>
            </a:r>
          </a:p>
          <a:p>
            <a:r>
              <a:rPr sz="900" b="0">
                <a:solidFill>
                  <a:srgbClr val="1B5E20"/>
                </a:solidFill>
              </a:rPr>
              <a:t/>
            </a:r>
          </a:p>
          <a:p>
            <a:r>
              <a:rPr sz="2800" b="1">
                <a:solidFill>
                  <a:srgbClr val="FFFFFF"/>
                </a:solidFill>
              </a:rPr>
              <a:t>Thank You</a:t>
            </a:r>
          </a:p>
          <a:p>
            <a:r>
              <a:rPr sz="1500" b="0">
                <a:solidFill>
                  <a:srgbClr val="F9A825"/>
                </a:solidFill>
              </a:rPr>
              <a:t>github.com/EfeErim/bitirmeprojesi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